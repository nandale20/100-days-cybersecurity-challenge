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Roboto" panose="02000000000000000000" pitchFamily="2" charset="0"/>
      <p:regular r:id="rId10"/>
    </p:embeddedFont>
    <p:embeddedFont>
      <p:font typeface="Roboto Slab" pitchFamily="2"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1" autoAdjust="0"/>
  </p:normalViewPr>
  <p:slideViewPr>
    <p:cSldViewPr snapToGrid="0" snapToObjects="1">
      <p:cViewPr varScale="1">
        <p:scale>
          <a:sx n="65" d="100"/>
          <a:sy n="65" d="100"/>
        </p:scale>
        <p:origin x="8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771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74294"/>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Authentication Failure: Real-World Lessons from Costly Breaches</a:t>
            </a:r>
            <a:endParaRPr lang="en-US" sz="4450" dirty="0"/>
          </a:p>
        </p:txBody>
      </p:sp>
      <p:sp>
        <p:nvSpPr>
          <p:cNvPr id="4" name="Text 1"/>
          <p:cNvSpPr/>
          <p:nvPr/>
        </p:nvSpPr>
        <p:spPr>
          <a:xfrm>
            <a:off x="793790" y="444079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When authentication breaks down, the consequences can be catastrophic. From API vulnerabilities to AI-generated code flaws, real organisations have faced devastating breaches—often from seemingly minor oversights. This presentation explores actual cases where authentication failures led to massive data exposure, financial losses, and damaged trust.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91602"/>
            <a:ext cx="8528447"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What is Authentication Failure?</a:t>
            </a:r>
            <a:endParaRPr lang="en-US" sz="4450" dirty="0"/>
          </a:p>
        </p:txBody>
      </p:sp>
      <p:sp>
        <p:nvSpPr>
          <p:cNvPr id="3" name="Shape 1"/>
          <p:cNvSpPr/>
          <p:nvPr/>
        </p:nvSpPr>
        <p:spPr>
          <a:xfrm>
            <a:off x="793790" y="2554010"/>
            <a:ext cx="4196358" cy="3302913"/>
          </a:xfrm>
          <a:prstGeom prst="roundRect">
            <a:avLst>
              <a:gd name="adj" fmla="val 1030"/>
            </a:avLst>
          </a:prstGeom>
          <a:solidFill>
            <a:srgbClr val="E9ECF2"/>
          </a:solidFill>
          <a:ln/>
        </p:spPr>
      </p:sp>
      <p:pic>
        <p:nvPicPr>
          <p:cNvPr id="4" name="Image 0" descr="preencoded.png"/>
          <p:cNvPicPr>
            <a:picLocks noChangeAspect="1"/>
          </p:cNvPicPr>
          <p:nvPr/>
        </p:nvPicPr>
        <p:blipFill>
          <a:blip r:embed="rId3"/>
          <a:stretch>
            <a:fillRect/>
          </a:stretch>
        </p:blipFill>
        <p:spPr>
          <a:xfrm>
            <a:off x="1020604" y="2780824"/>
            <a:ext cx="680442" cy="680442"/>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7770" y="2967871"/>
            <a:ext cx="306110" cy="306110"/>
          </a:xfrm>
          <a:prstGeom prst="rect">
            <a:avLst/>
          </a:prstGeom>
        </p:spPr>
      </p:pic>
      <p:sp>
        <p:nvSpPr>
          <p:cNvPr id="6" name="Text 2"/>
          <p:cNvSpPr/>
          <p:nvPr/>
        </p:nvSpPr>
        <p:spPr>
          <a:xfrm>
            <a:off x="1020604" y="3688080"/>
            <a:ext cx="3742730" cy="708660"/>
          </a:xfrm>
          <a:prstGeom prst="rect">
            <a:avLst/>
          </a:prstGeom>
          <a:noFill/>
          <a:ln/>
        </p:spPr>
        <p:txBody>
          <a:bodyPr wrap="squar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Identity Verification Breakdown</a:t>
            </a:r>
            <a:endParaRPr lang="en-US" sz="2200" dirty="0"/>
          </a:p>
        </p:txBody>
      </p:sp>
      <p:sp>
        <p:nvSpPr>
          <p:cNvPr id="7" name="Text 3"/>
          <p:cNvSpPr/>
          <p:nvPr/>
        </p:nvSpPr>
        <p:spPr>
          <a:xfrm>
            <a:off x="1020604" y="4532828"/>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Failure to correctly verify user identity before granting access to systems, data, or resources</a:t>
            </a:r>
            <a:endParaRPr lang="en-US" sz="1750" dirty="0"/>
          </a:p>
        </p:txBody>
      </p:sp>
      <p:sp>
        <p:nvSpPr>
          <p:cNvPr id="8" name="Shape 4"/>
          <p:cNvSpPr/>
          <p:nvPr/>
        </p:nvSpPr>
        <p:spPr>
          <a:xfrm>
            <a:off x="5216962" y="2554010"/>
            <a:ext cx="4196358" cy="3302913"/>
          </a:xfrm>
          <a:prstGeom prst="roundRect">
            <a:avLst>
              <a:gd name="adj" fmla="val 1030"/>
            </a:avLst>
          </a:prstGeom>
          <a:solidFill>
            <a:srgbClr val="E9ECF2"/>
          </a:solidFill>
          <a:ln/>
        </p:spPr>
      </p:sp>
      <p:pic>
        <p:nvPicPr>
          <p:cNvPr id="9" name="Image 2" descr="preencoded.png"/>
          <p:cNvPicPr>
            <a:picLocks noChangeAspect="1"/>
          </p:cNvPicPr>
          <p:nvPr/>
        </p:nvPicPr>
        <p:blipFill>
          <a:blip r:embed="rId6"/>
          <a:stretch>
            <a:fillRect/>
          </a:stretch>
        </p:blipFill>
        <p:spPr>
          <a:xfrm>
            <a:off x="5443776" y="2780824"/>
            <a:ext cx="680442" cy="680442"/>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0942" y="2967871"/>
            <a:ext cx="306110" cy="306110"/>
          </a:xfrm>
          <a:prstGeom prst="rect">
            <a:avLst/>
          </a:prstGeom>
        </p:spPr>
      </p:pic>
      <p:sp>
        <p:nvSpPr>
          <p:cNvPr id="11" name="Text 5"/>
          <p:cNvSpPr/>
          <p:nvPr/>
        </p:nvSpPr>
        <p:spPr>
          <a:xfrm>
            <a:off x="5443776" y="368808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Consequences</a:t>
            </a:r>
            <a:endParaRPr lang="en-US" sz="2200" dirty="0"/>
          </a:p>
        </p:txBody>
      </p:sp>
      <p:sp>
        <p:nvSpPr>
          <p:cNvPr id="12" name="Text 6"/>
          <p:cNvSpPr/>
          <p:nvPr/>
        </p:nvSpPr>
        <p:spPr>
          <a:xfrm>
            <a:off x="5443776" y="4178498"/>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Leads to unauthorised data exposure, financial loss, regulatory fines, and irreversible trust damage</a:t>
            </a:r>
            <a:endParaRPr lang="en-US" sz="1750" dirty="0"/>
          </a:p>
        </p:txBody>
      </p:sp>
      <p:sp>
        <p:nvSpPr>
          <p:cNvPr id="13" name="Shape 7"/>
          <p:cNvSpPr/>
          <p:nvPr/>
        </p:nvSpPr>
        <p:spPr>
          <a:xfrm>
            <a:off x="9640133" y="2554010"/>
            <a:ext cx="4196358" cy="3302913"/>
          </a:xfrm>
          <a:prstGeom prst="roundRect">
            <a:avLst>
              <a:gd name="adj" fmla="val 1030"/>
            </a:avLst>
          </a:prstGeom>
          <a:solidFill>
            <a:srgbClr val="E9ECF2"/>
          </a:solidFill>
          <a:ln/>
        </p:spPr>
      </p:sp>
      <p:pic>
        <p:nvPicPr>
          <p:cNvPr id="14" name="Image 4" descr="preencoded.png"/>
          <p:cNvPicPr>
            <a:picLocks noChangeAspect="1"/>
          </p:cNvPicPr>
          <p:nvPr/>
        </p:nvPicPr>
        <p:blipFill>
          <a:blip r:embed="rId9"/>
          <a:stretch>
            <a:fillRect/>
          </a:stretch>
        </p:blipFill>
        <p:spPr>
          <a:xfrm>
            <a:off x="9866948" y="2780824"/>
            <a:ext cx="680442" cy="680442"/>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54114" y="2967871"/>
            <a:ext cx="306110" cy="306110"/>
          </a:xfrm>
          <a:prstGeom prst="rect">
            <a:avLst/>
          </a:prstGeom>
        </p:spPr>
      </p:pic>
      <p:sp>
        <p:nvSpPr>
          <p:cNvPr id="16" name="Text 8"/>
          <p:cNvSpPr/>
          <p:nvPr/>
        </p:nvSpPr>
        <p:spPr>
          <a:xfrm>
            <a:off x="9866948" y="368808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Common Causes</a:t>
            </a:r>
            <a:endParaRPr lang="en-US" sz="2200" dirty="0"/>
          </a:p>
        </p:txBody>
      </p:sp>
      <p:sp>
        <p:nvSpPr>
          <p:cNvPr id="17" name="Text 9"/>
          <p:cNvSpPr/>
          <p:nvPr/>
        </p:nvSpPr>
        <p:spPr>
          <a:xfrm>
            <a:off x="9866948" y="4178498"/>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Often caused by subtle misconfigurations and logic errors, not just sophisticated hacking attempts</a:t>
            </a:r>
            <a:endParaRPr lang="en-US" sz="1750" dirty="0"/>
          </a:p>
        </p:txBody>
      </p:sp>
      <p:sp>
        <p:nvSpPr>
          <p:cNvPr id="18" name="Text 10"/>
          <p:cNvSpPr/>
          <p:nvPr/>
        </p:nvSpPr>
        <p:spPr>
          <a:xfrm>
            <a:off x="793790" y="611207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Authentication failure represents one of the most exploited vulnerabilities in modern software systems. The gap between intended security and actual implementation can be frighteningly small.</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0329" y="865346"/>
            <a:ext cx="7683341" cy="1303973"/>
          </a:xfrm>
          <a:prstGeom prst="rect">
            <a:avLst/>
          </a:prstGeom>
          <a:noFill/>
          <a:ln/>
        </p:spPr>
        <p:txBody>
          <a:bodyPr wrap="square" lIns="0" tIns="0" rIns="0" bIns="0" rtlCol="0" anchor="t"/>
          <a:lstStyle/>
          <a:p>
            <a:pPr marL="0" indent="0" algn="l">
              <a:lnSpc>
                <a:spcPts val="5100"/>
              </a:lnSpc>
              <a:buNone/>
            </a:pPr>
            <a:r>
              <a:rPr lang="en-US" sz="4100" dirty="0">
                <a:solidFill>
                  <a:srgbClr val="3257B8"/>
                </a:solidFill>
                <a:latin typeface="Roboto Slab" pitchFamily="34" charset="0"/>
                <a:ea typeface="Roboto Slab" pitchFamily="34" charset="-122"/>
                <a:cs typeface="Roboto Slab" pitchFamily="34" charset="-120"/>
              </a:rPr>
              <a:t>Case Study: Peloton's API Breach</a:t>
            </a:r>
            <a:endParaRPr lang="en-US" sz="4100" dirty="0"/>
          </a:p>
        </p:txBody>
      </p:sp>
      <p:sp>
        <p:nvSpPr>
          <p:cNvPr id="4" name="Text 1"/>
          <p:cNvSpPr/>
          <p:nvPr/>
        </p:nvSpPr>
        <p:spPr>
          <a:xfrm>
            <a:off x="730329" y="2245995"/>
            <a:ext cx="2608302" cy="325993"/>
          </a:xfrm>
          <a:prstGeom prst="rect">
            <a:avLst/>
          </a:prstGeom>
          <a:noFill/>
          <a:ln/>
        </p:spPr>
        <p:txBody>
          <a:bodyPr wrap="none" lIns="0" tIns="0" rIns="0" bIns="0" rtlCol="0" anchor="t"/>
          <a:lstStyle/>
          <a:p>
            <a:pPr marL="0" indent="0" algn="l">
              <a:lnSpc>
                <a:spcPts val="2550"/>
              </a:lnSpc>
              <a:buNone/>
            </a:pPr>
            <a:r>
              <a:rPr lang="en-US" sz="2050" dirty="0">
                <a:solidFill>
                  <a:srgbClr val="3257B8"/>
                </a:solidFill>
                <a:latin typeface="Roboto Slab" pitchFamily="34" charset="0"/>
                <a:ea typeface="Roboto Slab" pitchFamily="34" charset="-122"/>
                <a:cs typeface="Roboto Slab" pitchFamily="34" charset="-120"/>
              </a:rPr>
              <a:t>November 2025</a:t>
            </a:r>
            <a:endParaRPr lang="en-US" sz="2050" dirty="0"/>
          </a:p>
        </p:txBody>
      </p:sp>
      <p:sp>
        <p:nvSpPr>
          <p:cNvPr id="5" name="Text 2"/>
          <p:cNvSpPr/>
          <p:nvPr/>
        </p:nvSpPr>
        <p:spPr>
          <a:xfrm>
            <a:off x="730329" y="3051810"/>
            <a:ext cx="2608302" cy="325993"/>
          </a:xfrm>
          <a:prstGeom prst="rect">
            <a:avLst/>
          </a:prstGeom>
          <a:noFill/>
          <a:ln/>
        </p:spPr>
        <p:txBody>
          <a:bodyPr wrap="none" lIns="0" tIns="0" rIns="0" bIns="0" rtlCol="0" anchor="t"/>
          <a:lstStyle/>
          <a:p>
            <a:pPr marL="0" indent="0" algn="l">
              <a:lnSpc>
                <a:spcPts val="2550"/>
              </a:lnSpc>
              <a:buNone/>
            </a:pPr>
            <a:r>
              <a:rPr lang="en-US" sz="2050" dirty="0">
                <a:solidFill>
                  <a:srgbClr val="3257B8"/>
                </a:solidFill>
                <a:latin typeface="Roboto Slab" pitchFamily="34" charset="0"/>
                <a:ea typeface="Roboto Slab" pitchFamily="34" charset="-122"/>
                <a:cs typeface="Roboto Slab" pitchFamily="34" charset="-120"/>
              </a:rPr>
              <a:t>The Vulnerability</a:t>
            </a:r>
            <a:endParaRPr lang="en-US" sz="2050" dirty="0"/>
          </a:p>
        </p:txBody>
      </p:sp>
      <p:sp>
        <p:nvSpPr>
          <p:cNvPr id="6" name="Text 3"/>
          <p:cNvSpPr/>
          <p:nvPr/>
        </p:nvSpPr>
        <p:spPr>
          <a:xfrm>
            <a:off x="730329" y="3569732"/>
            <a:ext cx="3587115" cy="1602581"/>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An API endpoint lacked proper authentication, exposing 4 million user records. Even private profiles became accessible due to broken authorisation logic.</a:t>
            </a:r>
            <a:endParaRPr lang="en-US" sz="1600" dirty="0"/>
          </a:p>
        </p:txBody>
      </p:sp>
      <p:sp>
        <p:nvSpPr>
          <p:cNvPr id="7" name="Text 4"/>
          <p:cNvSpPr/>
          <p:nvPr/>
        </p:nvSpPr>
        <p:spPr>
          <a:xfrm>
            <a:off x="4834176" y="3051810"/>
            <a:ext cx="2608302" cy="325993"/>
          </a:xfrm>
          <a:prstGeom prst="rect">
            <a:avLst/>
          </a:prstGeom>
          <a:noFill/>
          <a:ln/>
        </p:spPr>
        <p:txBody>
          <a:bodyPr wrap="none" lIns="0" tIns="0" rIns="0" bIns="0" rtlCol="0" anchor="t"/>
          <a:lstStyle/>
          <a:p>
            <a:pPr marL="0" indent="0" algn="l">
              <a:lnSpc>
                <a:spcPts val="2550"/>
              </a:lnSpc>
              <a:buNone/>
            </a:pPr>
            <a:r>
              <a:rPr lang="en-US" sz="2050" dirty="0">
                <a:solidFill>
                  <a:srgbClr val="3257B8"/>
                </a:solidFill>
                <a:latin typeface="Roboto Slab" pitchFamily="34" charset="0"/>
                <a:ea typeface="Roboto Slab" pitchFamily="34" charset="-122"/>
                <a:cs typeface="Roboto Slab" pitchFamily="34" charset="-120"/>
              </a:rPr>
              <a:t>The Impact</a:t>
            </a:r>
            <a:endParaRPr lang="en-US" sz="2050" dirty="0"/>
          </a:p>
        </p:txBody>
      </p:sp>
      <p:sp>
        <p:nvSpPr>
          <p:cNvPr id="8" name="Text 5"/>
          <p:cNvSpPr/>
          <p:nvPr/>
        </p:nvSpPr>
        <p:spPr>
          <a:xfrm>
            <a:off x="4834176" y="3569732"/>
            <a:ext cx="3587115" cy="1923098"/>
          </a:xfrm>
          <a:prstGeom prst="rect">
            <a:avLst/>
          </a:prstGeom>
          <a:noFill/>
          <a:ln/>
        </p:spPr>
        <p:txBody>
          <a:bodyPr wrap="square" lIns="0" tIns="0" rIns="0" bIns="0" rtlCol="0" anchor="t"/>
          <a:lstStyle/>
          <a:p>
            <a:pPr marL="0" indent="0" algn="l">
              <a:lnSpc>
                <a:spcPts val="2500"/>
              </a:lnSpc>
              <a:buNone/>
            </a:pPr>
            <a:r>
              <a:rPr lang="en-US" sz="1600" dirty="0">
                <a:solidFill>
                  <a:srgbClr val="15213F"/>
                </a:solidFill>
                <a:latin typeface="Roboto" pitchFamily="34" charset="0"/>
                <a:ea typeface="Roboto" pitchFamily="34" charset="-122"/>
                <a:cs typeface="Roboto" pitchFamily="34" charset="-120"/>
              </a:rPr>
              <a:t>Despite implementing fixes later, the breach revealed the dangers of layered authentication risks. Sensitive user data—including workout routines and personal information—was exposed for an extended period.</a:t>
            </a:r>
            <a:endParaRPr lang="en-US" sz="1600" dirty="0"/>
          </a:p>
        </p:txBody>
      </p:sp>
      <p:sp>
        <p:nvSpPr>
          <p:cNvPr id="9" name="Shape 6"/>
          <p:cNvSpPr/>
          <p:nvPr/>
        </p:nvSpPr>
        <p:spPr>
          <a:xfrm>
            <a:off x="730329" y="5881449"/>
            <a:ext cx="7683341" cy="1482685"/>
          </a:xfrm>
          <a:prstGeom prst="roundRect">
            <a:avLst>
              <a:gd name="adj" fmla="val 2111"/>
            </a:avLst>
          </a:prstGeom>
          <a:solidFill>
            <a:srgbClr val="C3CFEF"/>
          </a:solidFill>
          <a:ln/>
        </p:spPr>
      </p:sp>
      <p:pic>
        <p:nvPicPr>
          <p:cNvPr id="10" name="Image 1" descr="preencoded.png"/>
          <p:cNvPicPr>
            <a:picLocks noChangeAspect="1"/>
          </p:cNvPicPr>
          <p:nvPr/>
        </p:nvPicPr>
        <p:blipFill>
          <a:blip r:embed="rId4"/>
          <a:stretch>
            <a:fillRect/>
          </a:stretch>
        </p:blipFill>
        <p:spPr>
          <a:xfrm>
            <a:off x="938927" y="6188273"/>
            <a:ext cx="260747" cy="208598"/>
          </a:xfrm>
          <a:prstGeom prst="rect">
            <a:avLst/>
          </a:prstGeom>
        </p:spPr>
      </p:pic>
      <p:sp>
        <p:nvSpPr>
          <p:cNvPr id="11" name="Text 7"/>
          <p:cNvSpPr/>
          <p:nvPr/>
        </p:nvSpPr>
        <p:spPr>
          <a:xfrm>
            <a:off x="1408271" y="6125527"/>
            <a:ext cx="6796802" cy="961549"/>
          </a:xfrm>
          <a:prstGeom prst="rect">
            <a:avLst/>
          </a:prstGeom>
          <a:noFill/>
          <a:ln/>
        </p:spPr>
        <p:txBody>
          <a:bodyPr wrap="square" lIns="0" tIns="0" rIns="0" bIns="0" rtlCol="0" anchor="t"/>
          <a:lstStyle/>
          <a:p>
            <a:pPr marL="0" indent="0" algn="l">
              <a:lnSpc>
                <a:spcPts val="2500"/>
              </a:lnSpc>
              <a:buNone/>
            </a:pPr>
            <a:r>
              <a:rPr lang="en-US" sz="1600" dirty="0">
                <a:solidFill>
                  <a:srgbClr val="000000"/>
                </a:solidFill>
                <a:latin typeface="Roboto" pitchFamily="34" charset="0"/>
                <a:ea typeface="Roboto" pitchFamily="34" charset="-122"/>
                <a:cs typeface="Roboto" pitchFamily="34" charset="-120"/>
              </a:rPr>
              <a:t>This incident demonstrates how a single unsecured endpoint can compromise millions of accounts, regardless of other security measures in place.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1514" y="901779"/>
            <a:ext cx="7780973" cy="1217057"/>
          </a:xfrm>
          <a:prstGeom prst="rect">
            <a:avLst/>
          </a:prstGeom>
          <a:noFill/>
          <a:ln/>
        </p:spPr>
        <p:txBody>
          <a:bodyPr wrap="square" lIns="0" tIns="0" rIns="0" bIns="0" rtlCol="0" anchor="t"/>
          <a:lstStyle/>
          <a:p>
            <a:pPr marL="0" indent="0" algn="l">
              <a:lnSpc>
                <a:spcPts val="4750"/>
              </a:lnSpc>
              <a:buNone/>
            </a:pPr>
            <a:r>
              <a:rPr lang="en-US" sz="3800" dirty="0">
                <a:solidFill>
                  <a:srgbClr val="3257B8"/>
                </a:solidFill>
                <a:latin typeface="Roboto Slab" pitchFamily="34" charset="0"/>
                <a:ea typeface="Roboto Slab" pitchFamily="34" charset="-122"/>
                <a:cs typeface="Roboto Slab" pitchFamily="34" charset="-120"/>
              </a:rPr>
              <a:t>The $1 Mistake That Hid a Login Bypass for 3 Years</a:t>
            </a:r>
            <a:endParaRPr lang="en-US" sz="3800" dirty="0"/>
          </a:p>
        </p:txBody>
      </p:sp>
      <p:sp>
        <p:nvSpPr>
          <p:cNvPr id="4" name="Text 1"/>
          <p:cNvSpPr/>
          <p:nvPr/>
        </p:nvSpPr>
        <p:spPr>
          <a:xfrm>
            <a:off x="681514" y="2185630"/>
            <a:ext cx="2434114" cy="304205"/>
          </a:xfrm>
          <a:prstGeom prst="rect">
            <a:avLst/>
          </a:prstGeom>
          <a:noFill/>
          <a:ln/>
        </p:spPr>
        <p:txBody>
          <a:bodyPr wrap="none" lIns="0" tIns="0" rIns="0" bIns="0" rtlCol="0" anchor="t"/>
          <a:lstStyle/>
          <a:p>
            <a:pPr marL="0" indent="0" algn="l">
              <a:lnSpc>
                <a:spcPts val="2350"/>
              </a:lnSpc>
              <a:buNone/>
            </a:pPr>
            <a:r>
              <a:rPr lang="en-US" sz="1900" dirty="0">
                <a:solidFill>
                  <a:srgbClr val="3257B8"/>
                </a:solidFill>
                <a:latin typeface="Roboto Slab" pitchFamily="34" charset="0"/>
                <a:ea typeface="Roboto Slab" pitchFamily="34" charset="-122"/>
                <a:cs typeface="Roboto Slab" pitchFamily="34" charset="-120"/>
              </a:rPr>
              <a:t>January 2026</a:t>
            </a:r>
            <a:endParaRPr lang="en-US" sz="1900" dirty="0"/>
          </a:p>
        </p:txBody>
      </p:sp>
      <p:sp>
        <p:nvSpPr>
          <p:cNvPr id="5" name="Shape 2"/>
          <p:cNvSpPr/>
          <p:nvPr/>
        </p:nvSpPr>
        <p:spPr>
          <a:xfrm>
            <a:off x="900470" y="2740581"/>
            <a:ext cx="22860" cy="3530560"/>
          </a:xfrm>
          <a:prstGeom prst="roundRect">
            <a:avLst>
              <a:gd name="adj" fmla="val 127778"/>
            </a:avLst>
          </a:prstGeom>
          <a:solidFill>
            <a:srgbClr val="CFD2D8"/>
          </a:solidFill>
          <a:ln/>
        </p:spPr>
      </p:sp>
      <p:sp>
        <p:nvSpPr>
          <p:cNvPr id="6" name="Shape 3"/>
          <p:cNvSpPr/>
          <p:nvPr/>
        </p:nvSpPr>
        <p:spPr>
          <a:xfrm>
            <a:off x="1096625" y="2948107"/>
            <a:ext cx="584121" cy="22860"/>
          </a:xfrm>
          <a:prstGeom prst="roundRect">
            <a:avLst>
              <a:gd name="adj" fmla="val 127778"/>
            </a:avLst>
          </a:prstGeom>
          <a:solidFill>
            <a:srgbClr val="CFD2D8"/>
          </a:solidFill>
          <a:ln/>
        </p:spPr>
      </p:sp>
      <p:sp>
        <p:nvSpPr>
          <p:cNvPr id="7" name="Shape 4"/>
          <p:cNvSpPr/>
          <p:nvPr/>
        </p:nvSpPr>
        <p:spPr>
          <a:xfrm>
            <a:off x="681454" y="2740581"/>
            <a:ext cx="438031" cy="438031"/>
          </a:xfrm>
          <a:prstGeom prst="roundRect">
            <a:avLst>
              <a:gd name="adj" fmla="val 6668"/>
            </a:avLst>
          </a:prstGeom>
          <a:solidFill>
            <a:srgbClr val="E9ECF2"/>
          </a:solidFill>
          <a:ln/>
        </p:spPr>
      </p:sp>
      <p:sp>
        <p:nvSpPr>
          <p:cNvPr id="8" name="Text 5"/>
          <p:cNvSpPr/>
          <p:nvPr/>
        </p:nvSpPr>
        <p:spPr>
          <a:xfrm>
            <a:off x="754380" y="2777014"/>
            <a:ext cx="292060" cy="365046"/>
          </a:xfrm>
          <a:prstGeom prst="rect">
            <a:avLst/>
          </a:prstGeom>
          <a:noFill/>
          <a:ln/>
        </p:spPr>
        <p:txBody>
          <a:bodyPr wrap="none" lIns="0" tIns="0" rIns="0" bIns="0" rtlCol="0" anchor="t"/>
          <a:lstStyle/>
          <a:p>
            <a:pPr marL="0" indent="0" algn="ctr">
              <a:lnSpc>
                <a:spcPts val="2250"/>
              </a:lnSpc>
              <a:buNone/>
            </a:pPr>
            <a:r>
              <a:rPr lang="en-US" sz="2250" dirty="0">
                <a:solidFill>
                  <a:srgbClr val="15213F"/>
                </a:solidFill>
                <a:latin typeface="Roboto Slab" pitchFamily="34" charset="0"/>
                <a:ea typeface="Roboto Slab" pitchFamily="34" charset="-122"/>
                <a:cs typeface="Roboto Slab" pitchFamily="34" charset="-120"/>
              </a:rPr>
              <a:t>1</a:t>
            </a:r>
            <a:endParaRPr lang="en-US" sz="2250" dirty="0"/>
          </a:p>
        </p:txBody>
      </p:sp>
      <p:sp>
        <p:nvSpPr>
          <p:cNvPr id="9" name="Text 6"/>
          <p:cNvSpPr/>
          <p:nvPr/>
        </p:nvSpPr>
        <p:spPr>
          <a:xfrm>
            <a:off x="1874163" y="2807494"/>
            <a:ext cx="2755106" cy="304205"/>
          </a:xfrm>
          <a:prstGeom prst="rect">
            <a:avLst/>
          </a:prstGeom>
          <a:noFill/>
          <a:ln/>
        </p:spPr>
        <p:txBody>
          <a:bodyPr wrap="none" lIns="0" tIns="0" rIns="0" bIns="0" rtlCol="0" anchor="t"/>
          <a:lstStyle/>
          <a:p>
            <a:pPr marL="0" indent="0" algn="l">
              <a:lnSpc>
                <a:spcPts val="2350"/>
              </a:lnSpc>
              <a:buNone/>
            </a:pPr>
            <a:r>
              <a:rPr lang="en-US" sz="1900" dirty="0">
                <a:solidFill>
                  <a:srgbClr val="15213F"/>
                </a:solidFill>
                <a:latin typeface="Roboto Slab" pitchFamily="34" charset="0"/>
                <a:ea typeface="Roboto Slab" pitchFamily="34" charset="-122"/>
                <a:cs typeface="Roboto Slab" pitchFamily="34" charset="-120"/>
              </a:rPr>
              <a:t>Initial Misconfiguration</a:t>
            </a:r>
            <a:endParaRPr lang="en-US" sz="1900" dirty="0"/>
          </a:p>
        </p:txBody>
      </p:sp>
      <p:sp>
        <p:nvSpPr>
          <p:cNvPr id="10" name="Text 7"/>
          <p:cNvSpPr/>
          <p:nvPr/>
        </p:nvSpPr>
        <p:spPr>
          <a:xfrm>
            <a:off x="1874163" y="3211949"/>
            <a:ext cx="6588323" cy="289560"/>
          </a:xfrm>
          <a:prstGeom prst="rect">
            <a:avLst/>
          </a:prstGeom>
          <a:noFill/>
          <a:ln/>
        </p:spPr>
        <p:txBody>
          <a:bodyPr wrap="none" lIns="0" tIns="0" rIns="0" bIns="0" rtlCol="0" anchor="t"/>
          <a:lstStyle/>
          <a:p>
            <a:pPr marL="0" indent="0" algn="l">
              <a:lnSpc>
                <a:spcPts val="2250"/>
              </a:lnSpc>
              <a:buNone/>
            </a:pPr>
            <a:r>
              <a:rPr lang="en-US" sz="1500" dirty="0">
                <a:solidFill>
                  <a:srgbClr val="15213F"/>
                </a:solidFill>
                <a:latin typeface="Roboto" pitchFamily="34" charset="0"/>
                <a:ea typeface="Roboto" pitchFamily="34" charset="-122"/>
                <a:cs typeface="Roboto" pitchFamily="34" charset="-120"/>
              </a:rPr>
              <a:t>SaaS startup's tiny authentication logic error allowed silent login bypass</a:t>
            </a:r>
            <a:endParaRPr lang="en-US" sz="1500" dirty="0"/>
          </a:p>
        </p:txBody>
      </p:sp>
      <p:sp>
        <p:nvSpPr>
          <p:cNvPr id="11" name="Shape 8"/>
          <p:cNvSpPr/>
          <p:nvPr/>
        </p:nvSpPr>
        <p:spPr>
          <a:xfrm>
            <a:off x="1096625" y="4043363"/>
            <a:ext cx="584121" cy="22860"/>
          </a:xfrm>
          <a:prstGeom prst="roundRect">
            <a:avLst>
              <a:gd name="adj" fmla="val 127778"/>
            </a:avLst>
          </a:prstGeom>
          <a:solidFill>
            <a:srgbClr val="CFD2D8"/>
          </a:solidFill>
          <a:ln/>
        </p:spPr>
      </p:sp>
      <p:sp>
        <p:nvSpPr>
          <p:cNvPr id="12" name="Shape 9"/>
          <p:cNvSpPr/>
          <p:nvPr/>
        </p:nvSpPr>
        <p:spPr>
          <a:xfrm>
            <a:off x="681454" y="3835837"/>
            <a:ext cx="438031" cy="438031"/>
          </a:xfrm>
          <a:prstGeom prst="roundRect">
            <a:avLst>
              <a:gd name="adj" fmla="val 6668"/>
            </a:avLst>
          </a:prstGeom>
          <a:solidFill>
            <a:srgbClr val="E9ECF2"/>
          </a:solidFill>
          <a:ln/>
        </p:spPr>
      </p:sp>
      <p:sp>
        <p:nvSpPr>
          <p:cNvPr id="13" name="Text 10"/>
          <p:cNvSpPr/>
          <p:nvPr/>
        </p:nvSpPr>
        <p:spPr>
          <a:xfrm>
            <a:off x="754380" y="3872270"/>
            <a:ext cx="292060" cy="365046"/>
          </a:xfrm>
          <a:prstGeom prst="rect">
            <a:avLst/>
          </a:prstGeom>
          <a:noFill/>
          <a:ln/>
        </p:spPr>
        <p:txBody>
          <a:bodyPr wrap="none" lIns="0" tIns="0" rIns="0" bIns="0" rtlCol="0" anchor="t"/>
          <a:lstStyle/>
          <a:p>
            <a:pPr marL="0" indent="0" algn="ctr">
              <a:lnSpc>
                <a:spcPts val="2250"/>
              </a:lnSpc>
              <a:buNone/>
            </a:pPr>
            <a:r>
              <a:rPr lang="en-US" sz="2250" dirty="0">
                <a:solidFill>
                  <a:srgbClr val="15213F"/>
                </a:solidFill>
                <a:latin typeface="Roboto Slab" pitchFamily="34" charset="0"/>
                <a:ea typeface="Roboto Slab" pitchFamily="34" charset="-122"/>
                <a:cs typeface="Roboto Slab" pitchFamily="34" charset="-120"/>
              </a:rPr>
              <a:t>2</a:t>
            </a:r>
            <a:endParaRPr lang="en-US" sz="2250" dirty="0"/>
          </a:p>
        </p:txBody>
      </p:sp>
      <p:sp>
        <p:nvSpPr>
          <p:cNvPr id="14" name="Text 11"/>
          <p:cNvSpPr/>
          <p:nvPr/>
        </p:nvSpPr>
        <p:spPr>
          <a:xfrm>
            <a:off x="1874163" y="3902750"/>
            <a:ext cx="2434114" cy="304205"/>
          </a:xfrm>
          <a:prstGeom prst="rect">
            <a:avLst/>
          </a:prstGeom>
          <a:noFill/>
          <a:ln/>
        </p:spPr>
        <p:txBody>
          <a:bodyPr wrap="none" lIns="0" tIns="0" rIns="0" bIns="0" rtlCol="0" anchor="t"/>
          <a:lstStyle/>
          <a:p>
            <a:pPr marL="0" indent="0" algn="l">
              <a:lnSpc>
                <a:spcPts val="2350"/>
              </a:lnSpc>
              <a:buNone/>
            </a:pPr>
            <a:r>
              <a:rPr lang="en-US" sz="1900" dirty="0">
                <a:solidFill>
                  <a:srgbClr val="15213F"/>
                </a:solidFill>
                <a:latin typeface="Roboto Slab" pitchFamily="34" charset="0"/>
                <a:ea typeface="Roboto Slab" pitchFamily="34" charset="-122"/>
                <a:cs typeface="Roboto Slab" pitchFamily="34" charset="-120"/>
              </a:rPr>
              <a:t>Years of Exposure</a:t>
            </a:r>
            <a:endParaRPr lang="en-US" sz="1900" dirty="0"/>
          </a:p>
        </p:txBody>
      </p:sp>
      <p:sp>
        <p:nvSpPr>
          <p:cNvPr id="15" name="Text 12"/>
          <p:cNvSpPr/>
          <p:nvPr/>
        </p:nvSpPr>
        <p:spPr>
          <a:xfrm>
            <a:off x="1874163" y="4307205"/>
            <a:ext cx="6588323" cy="579120"/>
          </a:xfrm>
          <a:prstGeom prst="rect">
            <a:avLst/>
          </a:prstGeom>
          <a:noFill/>
          <a:ln/>
        </p:spPr>
        <p:txBody>
          <a:bodyPr wrap="square" lIns="0" tIns="0" rIns="0" bIns="0" rtlCol="0" anchor="t"/>
          <a:lstStyle/>
          <a:p>
            <a:pPr marL="0" indent="0" algn="l">
              <a:lnSpc>
                <a:spcPts val="2250"/>
              </a:lnSpc>
              <a:buNone/>
            </a:pPr>
            <a:r>
              <a:rPr lang="en-US" sz="1500" dirty="0">
                <a:solidFill>
                  <a:srgbClr val="15213F"/>
                </a:solidFill>
                <a:latin typeface="Roboto" pitchFamily="34" charset="0"/>
                <a:ea typeface="Roboto" pitchFamily="34" charset="-122"/>
                <a:cs typeface="Roboto" pitchFamily="34" charset="-120"/>
              </a:rPr>
              <a:t>Issue remained undetected for 3 years, quietly exposing sensitive customer data</a:t>
            </a:r>
            <a:endParaRPr lang="en-US" sz="1500" dirty="0"/>
          </a:p>
        </p:txBody>
      </p:sp>
      <p:sp>
        <p:nvSpPr>
          <p:cNvPr id="16" name="Shape 13"/>
          <p:cNvSpPr/>
          <p:nvPr/>
        </p:nvSpPr>
        <p:spPr>
          <a:xfrm>
            <a:off x="1096625" y="5428178"/>
            <a:ext cx="584121" cy="22860"/>
          </a:xfrm>
          <a:prstGeom prst="roundRect">
            <a:avLst>
              <a:gd name="adj" fmla="val 127778"/>
            </a:avLst>
          </a:prstGeom>
          <a:solidFill>
            <a:srgbClr val="CFD2D8"/>
          </a:solidFill>
          <a:ln/>
        </p:spPr>
      </p:sp>
      <p:sp>
        <p:nvSpPr>
          <p:cNvPr id="17" name="Shape 14"/>
          <p:cNvSpPr/>
          <p:nvPr/>
        </p:nvSpPr>
        <p:spPr>
          <a:xfrm>
            <a:off x="681454" y="5220653"/>
            <a:ext cx="438031" cy="438031"/>
          </a:xfrm>
          <a:prstGeom prst="roundRect">
            <a:avLst>
              <a:gd name="adj" fmla="val 6668"/>
            </a:avLst>
          </a:prstGeom>
          <a:solidFill>
            <a:srgbClr val="E9ECF2"/>
          </a:solidFill>
          <a:ln/>
        </p:spPr>
      </p:sp>
      <p:sp>
        <p:nvSpPr>
          <p:cNvPr id="18" name="Text 15"/>
          <p:cNvSpPr/>
          <p:nvPr/>
        </p:nvSpPr>
        <p:spPr>
          <a:xfrm>
            <a:off x="754380" y="5257086"/>
            <a:ext cx="292060" cy="365046"/>
          </a:xfrm>
          <a:prstGeom prst="rect">
            <a:avLst/>
          </a:prstGeom>
          <a:noFill/>
          <a:ln/>
        </p:spPr>
        <p:txBody>
          <a:bodyPr wrap="none" lIns="0" tIns="0" rIns="0" bIns="0" rtlCol="0" anchor="t"/>
          <a:lstStyle/>
          <a:p>
            <a:pPr marL="0" indent="0" algn="ctr">
              <a:lnSpc>
                <a:spcPts val="2250"/>
              </a:lnSpc>
              <a:buNone/>
            </a:pPr>
            <a:r>
              <a:rPr lang="en-US" sz="2250" dirty="0">
                <a:solidFill>
                  <a:srgbClr val="15213F"/>
                </a:solidFill>
                <a:latin typeface="Roboto Slab" pitchFamily="34" charset="0"/>
                <a:ea typeface="Roboto Slab" pitchFamily="34" charset="-122"/>
                <a:cs typeface="Roboto Slab" pitchFamily="34" charset="-120"/>
              </a:rPr>
              <a:t>3</a:t>
            </a:r>
            <a:endParaRPr lang="en-US" sz="2250" dirty="0"/>
          </a:p>
        </p:txBody>
      </p:sp>
      <p:sp>
        <p:nvSpPr>
          <p:cNvPr id="19" name="Text 16"/>
          <p:cNvSpPr/>
          <p:nvPr/>
        </p:nvSpPr>
        <p:spPr>
          <a:xfrm>
            <a:off x="1874163" y="5287566"/>
            <a:ext cx="2434114" cy="304205"/>
          </a:xfrm>
          <a:prstGeom prst="rect">
            <a:avLst/>
          </a:prstGeom>
          <a:noFill/>
          <a:ln/>
        </p:spPr>
        <p:txBody>
          <a:bodyPr wrap="none" lIns="0" tIns="0" rIns="0" bIns="0" rtlCol="0" anchor="t"/>
          <a:lstStyle/>
          <a:p>
            <a:pPr marL="0" indent="0" algn="l">
              <a:lnSpc>
                <a:spcPts val="2350"/>
              </a:lnSpc>
              <a:buNone/>
            </a:pPr>
            <a:r>
              <a:rPr lang="en-US" sz="1900" dirty="0">
                <a:solidFill>
                  <a:srgbClr val="15213F"/>
                </a:solidFill>
                <a:latin typeface="Roboto Slab" pitchFamily="34" charset="0"/>
                <a:ea typeface="Roboto Slab" pitchFamily="34" charset="-122"/>
                <a:cs typeface="Roboto Slab" pitchFamily="34" charset="-120"/>
              </a:rPr>
              <a:t>Discovery &amp; Damage</a:t>
            </a:r>
            <a:endParaRPr lang="en-US" sz="1900" dirty="0"/>
          </a:p>
        </p:txBody>
      </p:sp>
      <p:sp>
        <p:nvSpPr>
          <p:cNvPr id="20" name="Text 17"/>
          <p:cNvSpPr/>
          <p:nvPr/>
        </p:nvSpPr>
        <p:spPr>
          <a:xfrm>
            <a:off x="1874163" y="5692021"/>
            <a:ext cx="6588323" cy="579120"/>
          </a:xfrm>
          <a:prstGeom prst="rect">
            <a:avLst/>
          </a:prstGeom>
          <a:noFill/>
          <a:ln/>
        </p:spPr>
        <p:txBody>
          <a:bodyPr wrap="square" lIns="0" tIns="0" rIns="0" bIns="0" rtlCol="0" anchor="t"/>
          <a:lstStyle/>
          <a:p>
            <a:pPr marL="0" indent="0" algn="l">
              <a:lnSpc>
                <a:spcPts val="2250"/>
              </a:lnSpc>
              <a:buNone/>
            </a:pPr>
            <a:r>
              <a:rPr lang="en-US" sz="1500" dirty="0">
                <a:solidFill>
                  <a:srgbClr val="15213F"/>
                </a:solidFill>
                <a:latin typeface="Roboto" pitchFamily="34" charset="0"/>
                <a:ea typeface="Roboto" pitchFamily="34" charset="-122"/>
                <a:cs typeface="Roboto" pitchFamily="34" charset="-120"/>
              </a:rPr>
              <a:t>Finally discovered through routine security audit, revealing extensive data compromise</a:t>
            </a:r>
            <a:endParaRPr lang="en-US" sz="1500" dirty="0"/>
          </a:p>
        </p:txBody>
      </p:sp>
      <p:sp>
        <p:nvSpPr>
          <p:cNvPr id="21" name="Text 18"/>
          <p:cNvSpPr/>
          <p:nvPr/>
        </p:nvSpPr>
        <p:spPr>
          <a:xfrm>
            <a:off x="681514" y="6459141"/>
            <a:ext cx="7780973" cy="868680"/>
          </a:xfrm>
          <a:prstGeom prst="rect">
            <a:avLst/>
          </a:prstGeom>
          <a:noFill/>
          <a:ln/>
        </p:spPr>
        <p:txBody>
          <a:bodyPr wrap="square" lIns="0" tIns="0" rIns="0" bIns="0" rtlCol="0" anchor="t"/>
          <a:lstStyle/>
          <a:p>
            <a:pPr marL="0" indent="0" algn="l">
              <a:lnSpc>
                <a:spcPts val="2250"/>
              </a:lnSpc>
              <a:buNone/>
            </a:pPr>
            <a:r>
              <a:rPr lang="en-US" sz="1500" dirty="0">
                <a:solidFill>
                  <a:srgbClr val="15213F"/>
                </a:solidFill>
                <a:latin typeface="Roboto" pitchFamily="34" charset="0"/>
                <a:ea typeface="Roboto" pitchFamily="34" charset="-122"/>
                <a:cs typeface="Roboto" pitchFamily="34" charset="-120"/>
              </a:rPr>
              <a:t>This case highlights how small errors in authentication logic can cause long-term damage. The misconfiguration was so subtle that it evaded detection through multiple code reviews and security assessments.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9475" y="625435"/>
            <a:ext cx="7557849" cy="1416129"/>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AI-Generated Authentication Gone Wrong</a:t>
            </a:r>
            <a:endParaRPr lang="en-US" sz="4450" dirty="0"/>
          </a:p>
        </p:txBody>
      </p:sp>
      <p:sp>
        <p:nvSpPr>
          <p:cNvPr id="4" name="Text 1"/>
          <p:cNvSpPr/>
          <p:nvPr/>
        </p:nvSpPr>
        <p:spPr>
          <a:xfrm>
            <a:off x="6279475" y="2132052"/>
            <a:ext cx="2832616" cy="353973"/>
          </a:xfrm>
          <a:prstGeom prst="rect">
            <a:avLst/>
          </a:prstGeom>
          <a:noFill/>
          <a:ln/>
        </p:spPr>
        <p:txBody>
          <a:bodyPr wrap="none" lIns="0" tIns="0" rIns="0" bIns="0" rtlCol="0" anchor="t"/>
          <a:lstStyle/>
          <a:p>
            <a:pPr marL="0" indent="0" algn="l">
              <a:lnSpc>
                <a:spcPts val="2750"/>
              </a:lnSpc>
              <a:buNone/>
            </a:pPr>
            <a:r>
              <a:rPr lang="en-US" sz="2200" dirty="0">
                <a:solidFill>
                  <a:srgbClr val="3257B8"/>
                </a:solidFill>
                <a:latin typeface="Roboto Slab" pitchFamily="34" charset="0"/>
                <a:ea typeface="Roboto Slab" pitchFamily="34" charset="-122"/>
                <a:cs typeface="Roboto Slab" pitchFamily="34" charset="-120"/>
              </a:rPr>
              <a:t>February 2026</a:t>
            </a:r>
            <a:endParaRPr lang="en-US" sz="2200" dirty="0"/>
          </a:p>
        </p:txBody>
      </p:sp>
      <p:sp>
        <p:nvSpPr>
          <p:cNvPr id="5" name="Text 2"/>
          <p:cNvSpPr/>
          <p:nvPr/>
        </p:nvSpPr>
        <p:spPr>
          <a:xfrm>
            <a:off x="6279475" y="2938820"/>
            <a:ext cx="2330648" cy="747832"/>
          </a:xfrm>
          <a:prstGeom prst="rect">
            <a:avLst/>
          </a:prstGeom>
          <a:noFill/>
          <a:ln/>
        </p:spPr>
        <p:txBody>
          <a:bodyPr wrap="none" lIns="0" tIns="0" rIns="0" bIns="0" rtlCol="0" anchor="t"/>
          <a:lstStyle/>
          <a:p>
            <a:pPr marL="0" indent="0" algn="ctr">
              <a:lnSpc>
                <a:spcPts val="5850"/>
              </a:lnSpc>
              <a:buNone/>
            </a:pPr>
            <a:r>
              <a:rPr lang="en-US" sz="5850" dirty="0">
                <a:solidFill>
                  <a:srgbClr val="15213F"/>
                </a:solidFill>
                <a:latin typeface="Roboto Slab" pitchFamily="34" charset="0"/>
                <a:ea typeface="Roboto Slab" pitchFamily="34" charset="-122"/>
                <a:cs typeface="Roboto Slab" pitchFamily="34" charset="-120"/>
              </a:rPr>
              <a:t>2,847</a:t>
            </a:r>
            <a:endParaRPr lang="en-US" sz="5850" dirty="0"/>
          </a:p>
        </p:txBody>
      </p:sp>
      <p:sp>
        <p:nvSpPr>
          <p:cNvPr id="6" name="Text 3"/>
          <p:cNvSpPr/>
          <p:nvPr/>
        </p:nvSpPr>
        <p:spPr>
          <a:xfrm>
            <a:off x="6279475" y="3969663"/>
            <a:ext cx="2330648" cy="707946"/>
          </a:xfrm>
          <a:prstGeom prst="rect">
            <a:avLst/>
          </a:prstGeom>
          <a:noFill/>
          <a:ln/>
        </p:spPr>
        <p:txBody>
          <a:bodyPr wrap="square" lIns="0" tIns="0" rIns="0" bIns="0" rtlCol="0" anchor="t"/>
          <a:lstStyle/>
          <a:p>
            <a:pPr marL="0" indent="0" algn="ctr">
              <a:lnSpc>
                <a:spcPts val="2750"/>
              </a:lnSpc>
              <a:buNone/>
            </a:pPr>
            <a:r>
              <a:rPr lang="en-US" sz="2200" dirty="0">
                <a:solidFill>
                  <a:srgbClr val="15213F"/>
                </a:solidFill>
                <a:latin typeface="Roboto Slab" pitchFamily="34" charset="0"/>
                <a:ea typeface="Roboto Slab" pitchFamily="34" charset="-122"/>
                <a:cs typeface="Roboto Slab" pitchFamily="34" charset="-120"/>
              </a:rPr>
              <a:t>Accounts Compromised</a:t>
            </a:r>
            <a:endParaRPr lang="en-US" sz="2200" dirty="0"/>
          </a:p>
        </p:txBody>
      </p:sp>
      <p:sp>
        <p:nvSpPr>
          <p:cNvPr id="7" name="Text 4"/>
          <p:cNvSpPr/>
          <p:nvPr/>
        </p:nvSpPr>
        <p:spPr>
          <a:xfrm>
            <a:off x="6279475" y="4813340"/>
            <a:ext cx="2330648" cy="1086922"/>
          </a:xfrm>
          <a:prstGeom prst="rect">
            <a:avLst/>
          </a:prstGeom>
          <a:noFill/>
          <a:ln/>
        </p:spPr>
        <p:txBody>
          <a:bodyPr wrap="square" lIns="0" tIns="0" rIns="0" bIns="0" rtlCol="0" anchor="t"/>
          <a:lstStyle/>
          <a:p>
            <a:pPr marL="0" indent="0" algn="ctr">
              <a:lnSpc>
                <a:spcPts val="2850"/>
              </a:lnSpc>
              <a:buNone/>
            </a:pPr>
            <a:r>
              <a:rPr lang="en-US" sz="1750" dirty="0">
                <a:solidFill>
                  <a:srgbClr val="15213F"/>
                </a:solidFill>
                <a:latin typeface="Roboto" pitchFamily="34" charset="0"/>
                <a:ea typeface="Roboto" pitchFamily="34" charset="-122"/>
                <a:cs typeface="Roboto" pitchFamily="34" charset="-120"/>
              </a:rPr>
              <a:t>User accounts breached within 3 weeks</a:t>
            </a:r>
            <a:endParaRPr lang="en-US" sz="1750" dirty="0"/>
          </a:p>
        </p:txBody>
      </p:sp>
      <p:sp>
        <p:nvSpPr>
          <p:cNvPr id="8" name="Text 5"/>
          <p:cNvSpPr/>
          <p:nvPr/>
        </p:nvSpPr>
        <p:spPr>
          <a:xfrm>
            <a:off x="8893016" y="2938820"/>
            <a:ext cx="2330648" cy="747832"/>
          </a:xfrm>
          <a:prstGeom prst="rect">
            <a:avLst/>
          </a:prstGeom>
          <a:noFill/>
          <a:ln/>
        </p:spPr>
        <p:txBody>
          <a:bodyPr wrap="none" lIns="0" tIns="0" rIns="0" bIns="0" rtlCol="0" anchor="t"/>
          <a:lstStyle/>
          <a:p>
            <a:pPr marL="0" indent="0" algn="ctr">
              <a:lnSpc>
                <a:spcPts val="5850"/>
              </a:lnSpc>
              <a:buNone/>
            </a:pPr>
            <a:r>
              <a:rPr lang="en-US" sz="5850" dirty="0">
                <a:solidFill>
                  <a:srgbClr val="15213F"/>
                </a:solidFill>
                <a:latin typeface="Roboto Slab" pitchFamily="34" charset="0"/>
                <a:ea typeface="Roboto Slab" pitchFamily="34" charset="-122"/>
                <a:cs typeface="Roboto Slab" pitchFamily="34" charset="-120"/>
              </a:rPr>
              <a:t>100%</a:t>
            </a:r>
            <a:endParaRPr lang="en-US" sz="5850" dirty="0"/>
          </a:p>
        </p:txBody>
      </p:sp>
      <p:sp>
        <p:nvSpPr>
          <p:cNvPr id="9" name="Text 6"/>
          <p:cNvSpPr/>
          <p:nvPr/>
        </p:nvSpPr>
        <p:spPr>
          <a:xfrm>
            <a:off x="8893016" y="3969663"/>
            <a:ext cx="2330648" cy="707946"/>
          </a:xfrm>
          <a:prstGeom prst="rect">
            <a:avLst/>
          </a:prstGeom>
          <a:noFill/>
          <a:ln/>
        </p:spPr>
        <p:txBody>
          <a:bodyPr wrap="square" lIns="0" tIns="0" rIns="0" bIns="0" rtlCol="0" anchor="t"/>
          <a:lstStyle/>
          <a:p>
            <a:pPr marL="0" indent="0" algn="ctr">
              <a:lnSpc>
                <a:spcPts val="2750"/>
              </a:lnSpc>
              <a:buNone/>
            </a:pPr>
            <a:r>
              <a:rPr lang="en-US" sz="2200" dirty="0">
                <a:solidFill>
                  <a:srgbClr val="15213F"/>
                </a:solidFill>
                <a:latin typeface="Roboto Slab" pitchFamily="34" charset="0"/>
                <a:ea typeface="Roboto Slab" pitchFamily="34" charset="-122"/>
                <a:cs typeface="Roboto Slab" pitchFamily="34" charset="-120"/>
              </a:rPr>
              <a:t>Hardcoded Secret</a:t>
            </a:r>
            <a:endParaRPr lang="en-US" sz="2200" dirty="0"/>
          </a:p>
        </p:txBody>
      </p:sp>
      <p:sp>
        <p:nvSpPr>
          <p:cNvPr id="10" name="Text 7"/>
          <p:cNvSpPr/>
          <p:nvPr/>
        </p:nvSpPr>
        <p:spPr>
          <a:xfrm>
            <a:off x="8893016" y="4813340"/>
            <a:ext cx="2330648" cy="1086922"/>
          </a:xfrm>
          <a:prstGeom prst="rect">
            <a:avLst/>
          </a:prstGeom>
          <a:noFill/>
          <a:ln/>
        </p:spPr>
        <p:txBody>
          <a:bodyPr wrap="square" lIns="0" tIns="0" rIns="0" bIns="0" rtlCol="0" anchor="t"/>
          <a:lstStyle/>
          <a:p>
            <a:pPr marL="0" indent="0" algn="ctr">
              <a:lnSpc>
                <a:spcPts val="2850"/>
              </a:lnSpc>
              <a:buNone/>
            </a:pPr>
            <a:r>
              <a:rPr lang="en-US" sz="1750" dirty="0">
                <a:solidFill>
                  <a:srgbClr val="15213F"/>
                </a:solidFill>
                <a:latin typeface="Roboto" pitchFamily="34" charset="0"/>
                <a:ea typeface="Roboto" pitchFamily="34" charset="-122"/>
                <a:cs typeface="Roboto" pitchFamily="34" charset="-120"/>
              </a:rPr>
              <a:t>AI wrote JWT-based auth with embedded key</a:t>
            </a:r>
            <a:endParaRPr lang="en-US" sz="1750" dirty="0"/>
          </a:p>
        </p:txBody>
      </p:sp>
      <p:sp>
        <p:nvSpPr>
          <p:cNvPr id="11" name="Text 8"/>
          <p:cNvSpPr/>
          <p:nvPr/>
        </p:nvSpPr>
        <p:spPr>
          <a:xfrm>
            <a:off x="11506557" y="2938820"/>
            <a:ext cx="2330648" cy="747832"/>
          </a:xfrm>
          <a:prstGeom prst="rect">
            <a:avLst/>
          </a:prstGeom>
          <a:noFill/>
          <a:ln/>
        </p:spPr>
        <p:txBody>
          <a:bodyPr wrap="none" lIns="0" tIns="0" rIns="0" bIns="0" rtlCol="0" anchor="t"/>
          <a:lstStyle/>
          <a:p>
            <a:pPr marL="0" indent="0" algn="ctr">
              <a:lnSpc>
                <a:spcPts val="5850"/>
              </a:lnSpc>
              <a:buNone/>
            </a:pPr>
            <a:r>
              <a:rPr lang="en-US" sz="5850" dirty="0">
                <a:solidFill>
                  <a:srgbClr val="15213F"/>
                </a:solidFill>
                <a:latin typeface="Roboto Slab" pitchFamily="34" charset="0"/>
                <a:ea typeface="Roboto Slab" pitchFamily="34" charset="-122"/>
                <a:cs typeface="Roboto Slab" pitchFamily="34" charset="-120"/>
              </a:rPr>
              <a:t>0</a:t>
            </a:r>
            <a:endParaRPr lang="en-US" sz="5850" dirty="0"/>
          </a:p>
        </p:txBody>
      </p:sp>
      <p:sp>
        <p:nvSpPr>
          <p:cNvPr id="12" name="Text 9"/>
          <p:cNvSpPr/>
          <p:nvPr/>
        </p:nvSpPr>
        <p:spPr>
          <a:xfrm>
            <a:off x="11506557" y="3969663"/>
            <a:ext cx="2330648" cy="353973"/>
          </a:xfrm>
          <a:prstGeom prst="rect">
            <a:avLst/>
          </a:prstGeom>
          <a:noFill/>
          <a:ln/>
        </p:spPr>
        <p:txBody>
          <a:bodyPr wrap="none" lIns="0" tIns="0" rIns="0" bIns="0" rtlCol="0" anchor="t"/>
          <a:lstStyle/>
          <a:p>
            <a:pPr marL="0" indent="0" algn="ctr">
              <a:lnSpc>
                <a:spcPts val="2750"/>
              </a:lnSpc>
              <a:buNone/>
            </a:pPr>
            <a:r>
              <a:rPr lang="en-US" sz="2200" dirty="0">
                <a:solidFill>
                  <a:srgbClr val="15213F"/>
                </a:solidFill>
                <a:latin typeface="Roboto Slab" pitchFamily="34" charset="0"/>
                <a:ea typeface="Roboto Slab" pitchFamily="34" charset="-122"/>
                <a:cs typeface="Roboto Slab" pitchFamily="34" charset="-120"/>
              </a:rPr>
              <a:t>Security Review</a:t>
            </a:r>
            <a:endParaRPr lang="en-US" sz="2200" dirty="0"/>
          </a:p>
        </p:txBody>
      </p:sp>
      <p:sp>
        <p:nvSpPr>
          <p:cNvPr id="13" name="Text 10"/>
          <p:cNvSpPr/>
          <p:nvPr/>
        </p:nvSpPr>
        <p:spPr>
          <a:xfrm>
            <a:off x="11506557" y="4459367"/>
            <a:ext cx="2330648" cy="724614"/>
          </a:xfrm>
          <a:prstGeom prst="rect">
            <a:avLst/>
          </a:prstGeom>
          <a:noFill/>
          <a:ln/>
        </p:spPr>
        <p:txBody>
          <a:bodyPr wrap="square" lIns="0" tIns="0" rIns="0" bIns="0" rtlCol="0" anchor="t"/>
          <a:lstStyle/>
          <a:p>
            <a:pPr marL="0" indent="0" algn="ctr">
              <a:lnSpc>
                <a:spcPts val="2850"/>
              </a:lnSpc>
              <a:buNone/>
            </a:pPr>
            <a:r>
              <a:rPr lang="en-US" sz="1750" dirty="0">
                <a:solidFill>
                  <a:srgbClr val="15213F"/>
                </a:solidFill>
                <a:latin typeface="Roboto" pitchFamily="34" charset="0"/>
                <a:ea typeface="Roboto" pitchFamily="34" charset="-122"/>
                <a:cs typeface="Roboto" pitchFamily="34" charset="-120"/>
              </a:rPr>
              <a:t>No manual audit before deployment</a:t>
            </a:r>
            <a:endParaRPr lang="en-US" sz="1750" dirty="0"/>
          </a:p>
        </p:txBody>
      </p:sp>
      <p:sp>
        <p:nvSpPr>
          <p:cNvPr id="14" name="Text 11"/>
          <p:cNvSpPr/>
          <p:nvPr/>
        </p:nvSpPr>
        <p:spPr>
          <a:xfrm>
            <a:off x="6279475" y="6154936"/>
            <a:ext cx="7557849" cy="1449229"/>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An AI-generated JWT-based authentication system contained a hardcoded secret key. Within 3 weeks, 2,847 user accounts were compromised. This incident shows the dangers of blindly trusting automated code without proper security audits and human oversight.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76632"/>
            <a:ext cx="11192589"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Key Takeaways for Secure Authentication</a:t>
            </a:r>
            <a:endParaRPr lang="en-US" sz="4450" dirty="0"/>
          </a:p>
        </p:txBody>
      </p:sp>
      <p:sp>
        <p:nvSpPr>
          <p:cNvPr id="3" name="Shape 1"/>
          <p:cNvSpPr/>
          <p:nvPr/>
        </p:nvSpPr>
        <p:spPr>
          <a:xfrm>
            <a:off x="793790" y="2179201"/>
            <a:ext cx="6407944" cy="2403396"/>
          </a:xfrm>
          <a:prstGeom prst="roundRect">
            <a:avLst>
              <a:gd name="adj" fmla="val 6087"/>
            </a:avLst>
          </a:prstGeom>
          <a:solidFill>
            <a:srgbClr val="FBFCFE"/>
          </a:solidFill>
          <a:ln/>
        </p:spPr>
      </p:sp>
      <p:pic>
        <p:nvPicPr>
          <p:cNvPr id="4" name="Image 0" descr="preencoded.png"/>
          <p:cNvPicPr>
            <a:picLocks noChangeAspect="1"/>
          </p:cNvPicPr>
          <p:nvPr/>
        </p:nvPicPr>
        <p:blipFill>
          <a:blip r:embed="rId3"/>
          <a:stretch>
            <a:fillRect/>
          </a:stretch>
        </p:blipFill>
        <p:spPr>
          <a:xfrm>
            <a:off x="793790" y="2148721"/>
            <a:ext cx="6407944" cy="121920"/>
          </a:xfrm>
          <a:prstGeom prst="rect">
            <a:avLst/>
          </a:prstGeom>
        </p:spPr>
      </p:pic>
      <p:pic>
        <p:nvPicPr>
          <p:cNvPr id="5" name="Image 1" descr="preencoded.png"/>
          <p:cNvPicPr>
            <a:picLocks noChangeAspect="1"/>
          </p:cNvPicPr>
          <p:nvPr/>
        </p:nvPicPr>
        <p:blipFill>
          <a:blip r:embed="rId4"/>
          <a:stretch>
            <a:fillRect/>
          </a:stretch>
        </p:blipFill>
        <p:spPr>
          <a:xfrm>
            <a:off x="3657540" y="1839039"/>
            <a:ext cx="680442" cy="680442"/>
          </a:xfrm>
          <a:prstGeom prst="rect">
            <a:avLst/>
          </a:prstGeom>
        </p:spPr>
      </p:pic>
      <p:sp>
        <p:nvSpPr>
          <p:cNvPr id="6" name="Text 2"/>
          <p:cNvSpPr/>
          <p:nvPr/>
        </p:nvSpPr>
        <p:spPr>
          <a:xfrm>
            <a:off x="3861614" y="2009180"/>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Roboto Slab" pitchFamily="34" charset="0"/>
                <a:ea typeface="Roboto Slab" pitchFamily="34" charset="-122"/>
                <a:cs typeface="Roboto Slab" pitchFamily="34" charset="-120"/>
              </a:rPr>
              <a:t>1</a:t>
            </a:r>
            <a:endParaRPr lang="en-US" sz="2100" dirty="0"/>
          </a:p>
        </p:txBody>
      </p:sp>
      <p:sp>
        <p:nvSpPr>
          <p:cNvPr id="7" name="Text 3"/>
          <p:cNvSpPr/>
          <p:nvPr/>
        </p:nvSpPr>
        <p:spPr>
          <a:xfrm>
            <a:off x="1051084" y="2746177"/>
            <a:ext cx="3767138"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Multi-Factor Authentication</a:t>
            </a:r>
            <a:endParaRPr lang="en-US" sz="2200" dirty="0"/>
          </a:p>
        </p:txBody>
      </p:sp>
      <p:sp>
        <p:nvSpPr>
          <p:cNvPr id="8" name="Text 4"/>
          <p:cNvSpPr/>
          <p:nvPr/>
        </p:nvSpPr>
        <p:spPr>
          <a:xfrm>
            <a:off x="1051084" y="3236595"/>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Always implement MFA and proper token validation. Never rely on single-factor authentication for sensitive systems.</a:t>
            </a:r>
            <a:endParaRPr lang="en-US" sz="1750" dirty="0"/>
          </a:p>
        </p:txBody>
      </p:sp>
      <p:sp>
        <p:nvSpPr>
          <p:cNvPr id="9" name="Shape 5"/>
          <p:cNvSpPr/>
          <p:nvPr/>
        </p:nvSpPr>
        <p:spPr>
          <a:xfrm>
            <a:off x="7428548" y="2179201"/>
            <a:ext cx="6408063" cy="2403396"/>
          </a:xfrm>
          <a:prstGeom prst="roundRect">
            <a:avLst>
              <a:gd name="adj" fmla="val 6087"/>
            </a:avLst>
          </a:prstGeom>
          <a:solidFill>
            <a:srgbClr val="FBFCFE"/>
          </a:solidFill>
          <a:ln/>
        </p:spPr>
      </p:sp>
      <p:pic>
        <p:nvPicPr>
          <p:cNvPr id="10" name="Image 2" descr="preencoded.png"/>
          <p:cNvPicPr>
            <a:picLocks noChangeAspect="1"/>
          </p:cNvPicPr>
          <p:nvPr/>
        </p:nvPicPr>
        <p:blipFill>
          <a:blip r:embed="rId3"/>
          <a:stretch>
            <a:fillRect/>
          </a:stretch>
        </p:blipFill>
        <p:spPr>
          <a:xfrm>
            <a:off x="7428548" y="2148721"/>
            <a:ext cx="6408063" cy="121920"/>
          </a:xfrm>
          <a:prstGeom prst="rect">
            <a:avLst/>
          </a:prstGeom>
        </p:spPr>
      </p:pic>
      <p:pic>
        <p:nvPicPr>
          <p:cNvPr id="11" name="Image 3" descr="preencoded.png"/>
          <p:cNvPicPr>
            <a:picLocks noChangeAspect="1"/>
          </p:cNvPicPr>
          <p:nvPr/>
        </p:nvPicPr>
        <p:blipFill>
          <a:blip r:embed="rId4"/>
          <a:stretch>
            <a:fillRect/>
          </a:stretch>
        </p:blipFill>
        <p:spPr>
          <a:xfrm>
            <a:off x="10292298" y="1839039"/>
            <a:ext cx="680442" cy="680442"/>
          </a:xfrm>
          <a:prstGeom prst="rect">
            <a:avLst/>
          </a:prstGeom>
        </p:spPr>
      </p:pic>
      <p:sp>
        <p:nvSpPr>
          <p:cNvPr id="12" name="Text 6"/>
          <p:cNvSpPr/>
          <p:nvPr/>
        </p:nvSpPr>
        <p:spPr>
          <a:xfrm>
            <a:off x="10496371" y="2009180"/>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Roboto Slab" pitchFamily="34" charset="0"/>
                <a:ea typeface="Roboto Slab" pitchFamily="34" charset="-122"/>
                <a:cs typeface="Roboto Slab" pitchFamily="34" charset="-120"/>
              </a:rPr>
              <a:t>2</a:t>
            </a:r>
            <a:endParaRPr lang="en-US" sz="2100" dirty="0"/>
          </a:p>
        </p:txBody>
      </p:sp>
      <p:sp>
        <p:nvSpPr>
          <p:cNvPr id="13" name="Text 7"/>
          <p:cNvSpPr/>
          <p:nvPr/>
        </p:nvSpPr>
        <p:spPr>
          <a:xfrm>
            <a:off x="7685842" y="27461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Secret Management</a:t>
            </a:r>
            <a:endParaRPr lang="en-US" sz="2200" dirty="0"/>
          </a:p>
        </p:txBody>
      </p:sp>
      <p:sp>
        <p:nvSpPr>
          <p:cNvPr id="14" name="Text 8"/>
          <p:cNvSpPr/>
          <p:nvPr/>
        </p:nvSpPr>
        <p:spPr>
          <a:xfrm>
            <a:off x="7685842" y="3236595"/>
            <a:ext cx="5893475"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Avoid hardcoded secrets in code. Use secure vaults, rotate keys regularly, and invalidate caches carefully during updates.</a:t>
            </a:r>
            <a:endParaRPr lang="en-US" sz="1750" dirty="0"/>
          </a:p>
        </p:txBody>
      </p:sp>
      <p:sp>
        <p:nvSpPr>
          <p:cNvPr id="15" name="Shape 9"/>
          <p:cNvSpPr/>
          <p:nvPr/>
        </p:nvSpPr>
        <p:spPr>
          <a:xfrm>
            <a:off x="793790" y="5149572"/>
            <a:ext cx="6407944" cy="2403396"/>
          </a:xfrm>
          <a:prstGeom prst="roundRect">
            <a:avLst>
              <a:gd name="adj" fmla="val 6087"/>
            </a:avLst>
          </a:prstGeom>
          <a:solidFill>
            <a:srgbClr val="FBFCFE"/>
          </a:solidFill>
          <a:ln/>
        </p:spPr>
      </p:sp>
      <p:pic>
        <p:nvPicPr>
          <p:cNvPr id="16" name="Image 4" descr="preencoded.png"/>
          <p:cNvPicPr>
            <a:picLocks noChangeAspect="1"/>
          </p:cNvPicPr>
          <p:nvPr/>
        </p:nvPicPr>
        <p:blipFill>
          <a:blip r:embed="rId3"/>
          <a:stretch>
            <a:fillRect/>
          </a:stretch>
        </p:blipFill>
        <p:spPr>
          <a:xfrm>
            <a:off x="793790" y="5119092"/>
            <a:ext cx="6407944" cy="121920"/>
          </a:xfrm>
          <a:prstGeom prst="rect">
            <a:avLst/>
          </a:prstGeom>
        </p:spPr>
      </p:pic>
      <p:pic>
        <p:nvPicPr>
          <p:cNvPr id="17" name="Image 5" descr="preencoded.png"/>
          <p:cNvPicPr>
            <a:picLocks noChangeAspect="1"/>
          </p:cNvPicPr>
          <p:nvPr/>
        </p:nvPicPr>
        <p:blipFill>
          <a:blip r:embed="rId4"/>
          <a:stretch>
            <a:fillRect/>
          </a:stretch>
        </p:blipFill>
        <p:spPr>
          <a:xfrm>
            <a:off x="3657540" y="4809411"/>
            <a:ext cx="680442" cy="680442"/>
          </a:xfrm>
          <a:prstGeom prst="rect">
            <a:avLst/>
          </a:prstGeom>
        </p:spPr>
      </p:pic>
      <p:sp>
        <p:nvSpPr>
          <p:cNvPr id="18" name="Text 10"/>
          <p:cNvSpPr/>
          <p:nvPr/>
        </p:nvSpPr>
        <p:spPr>
          <a:xfrm>
            <a:off x="3861614" y="4979551"/>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Roboto Slab" pitchFamily="34" charset="0"/>
                <a:ea typeface="Roboto Slab" pitchFamily="34" charset="-122"/>
                <a:cs typeface="Roboto Slab" pitchFamily="34" charset="-120"/>
              </a:rPr>
              <a:t>3</a:t>
            </a:r>
            <a:endParaRPr lang="en-US" sz="2100" dirty="0"/>
          </a:p>
        </p:txBody>
      </p:sp>
      <p:sp>
        <p:nvSpPr>
          <p:cNvPr id="19" name="Text 11"/>
          <p:cNvSpPr/>
          <p:nvPr/>
        </p:nvSpPr>
        <p:spPr>
          <a:xfrm>
            <a:off x="1051084" y="5716548"/>
            <a:ext cx="3163014"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Comprehensive Testing</a:t>
            </a:r>
            <a:endParaRPr lang="en-US" sz="2200" dirty="0"/>
          </a:p>
        </p:txBody>
      </p:sp>
      <p:sp>
        <p:nvSpPr>
          <p:cNvPr id="20" name="Text 12"/>
          <p:cNvSpPr/>
          <p:nvPr/>
        </p:nvSpPr>
        <p:spPr>
          <a:xfrm>
            <a:off x="1051084" y="6206966"/>
            <a:ext cx="5893356"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Test authentication flows end-to-end, including edge cases, caching behaviour, and session management scenarios.</a:t>
            </a:r>
            <a:endParaRPr lang="en-US" sz="1750" dirty="0"/>
          </a:p>
        </p:txBody>
      </p:sp>
      <p:sp>
        <p:nvSpPr>
          <p:cNvPr id="21" name="Shape 13"/>
          <p:cNvSpPr/>
          <p:nvPr/>
        </p:nvSpPr>
        <p:spPr>
          <a:xfrm>
            <a:off x="7428548" y="5149572"/>
            <a:ext cx="6408063" cy="2403396"/>
          </a:xfrm>
          <a:prstGeom prst="roundRect">
            <a:avLst>
              <a:gd name="adj" fmla="val 6087"/>
            </a:avLst>
          </a:prstGeom>
          <a:solidFill>
            <a:srgbClr val="FBFCFE"/>
          </a:solidFill>
          <a:ln/>
        </p:spPr>
      </p:sp>
      <p:pic>
        <p:nvPicPr>
          <p:cNvPr id="22" name="Image 6" descr="preencoded.png"/>
          <p:cNvPicPr>
            <a:picLocks noChangeAspect="1"/>
          </p:cNvPicPr>
          <p:nvPr/>
        </p:nvPicPr>
        <p:blipFill>
          <a:blip r:embed="rId3"/>
          <a:stretch>
            <a:fillRect/>
          </a:stretch>
        </p:blipFill>
        <p:spPr>
          <a:xfrm>
            <a:off x="7428548" y="5119092"/>
            <a:ext cx="6408063" cy="121920"/>
          </a:xfrm>
          <a:prstGeom prst="rect">
            <a:avLst/>
          </a:prstGeom>
        </p:spPr>
      </p:pic>
      <p:pic>
        <p:nvPicPr>
          <p:cNvPr id="23" name="Image 7" descr="preencoded.png"/>
          <p:cNvPicPr>
            <a:picLocks noChangeAspect="1"/>
          </p:cNvPicPr>
          <p:nvPr/>
        </p:nvPicPr>
        <p:blipFill>
          <a:blip r:embed="rId4"/>
          <a:stretch>
            <a:fillRect/>
          </a:stretch>
        </p:blipFill>
        <p:spPr>
          <a:xfrm>
            <a:off x="10292298" y="4809411"/>
            <a:ext cx="680442" cy="680442"/>
          </a:xfrm>
          <a:prstGeom prst="rect">
            <a:avLst/>
          </a:prstGeom>
        </p:spPr>
      </p:pic>
      <p:sp>
        <p:nvSpPr>
          <p:cNvPr id="24" name="Text 14"/>
          <p:cNvSpPr/>
          <p:nvPr/>
        </p:nvSpPr>
        <p:spPr>
          <a:xfrm>
            <a:off x="10496371" y="4979551"/>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Roboto Slab" pitchFamily="34" charset="0"/>
                <a:ea typeface="Roboto Slab" pitchFamily="34" charset="-122"/>
                <a:cs typeface="Roboto Slab" pitchFamily="34" charset="-120"/>
              </a:rPr>
              <a:t>4</a:t>
            </a:r>
            <a:endParaRPr lang="en-US" sz="2100" dirty="0"/>
          </a:p>
        </p:txBody>
      </p:sp>
      <p:sp>
        <p:nvSpPr>
          <p:cNvPr id="25" name="Text 15"/>
          <p:cNvSpPr/>
          <p:nvPr/>
        </p:nvSpPr>
        <p:spPr>
          <a:xfrm>
            <a:off x="7685842" y="5716548"/>
            <a:ext cx="3110151"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Continuous Monitoring</a:t>
            </a:r>
            <a:endParaRPr lang="en-US" sz="2200" dirty="0"/>
          </a:p>
        </p:txBody>
      </p:sp>
      <p:sp>
        <p:nvSpPr>
          <p:cNvPr id="26" name="Text 16"/>
          <p:cNvSpPr/>
          <p:nvPr/>
        </p:nvSpPr>
        <p:spPr>
          <a:xfrm>
            <a:off x="7685842" y="6206966"/>
            <a:ext cx="5893475"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Monitor logs for unusual access patterns, failed attempts, and anomalous behaviour. Fix issues promptly when detected.</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9815" y="1224677"/>
            <a:ext cx="7837170" cy="1167051"/>
          </a:xfrm>
          <a:prstGeom prst="rect">
            <a:avLst/>
          </a:prstGeom>
          <a:noFill/>
          <a:ln/>
        </p:spPr>
        <p:txBody>
          <a:bodyPr wrap="square" lIns="0" tIns="0" rIns="0" bIns="0" rtlCol="0" anchor="t"/>
          <a:lstStyle/>
          <a:p>
            <a:pPr marL="0" indent="0" algn="l">
              <a:lnSpc>
                <a:spcPts val="4550"/>
              </a:lnSpc>
              <a:buNone/>
            </a:pPr>
            <a:r>
              <a:rPr lang="en-US" sz="3650" dirty="0">
                <a:solidFill>
                  <a:srgbClr val="3257B8"/>
                </a:solidFill>
                <a:latin typeface="Roboto Slab" pitchFamily="34" charset="0"/>
                <a:ea typeface="Roboto Slab" pitchFamily="34" charset="-122"/>
                <a:cs typeface="Roboto Slab" pitchFamily="34" charset="-120"/>
              </a:rPr>
              <a:t>Conclusion: Authentication is a Human &amp; Technical Challenge</a:t>
            </a:r>
            <a:endParaRPr lang="en-US" sz="3650" dirty="0"/>
          </a:p>
        </p:txBody>
      </p:sp>
      <p:sp>
        <p:nvSpPr>
          <p:cNvPr id="4" name="Shape 1"/>
          <p:cNvSpPr/>
          <p:nvPr/>
        </p:nvSpPr>
        <p:spPr>
          <a:xfrm>
            <a:off x="6139815" y="2622233"/>
            <a:ext cx="420053" cy="420053"/>
          </a:xfrm>
          <a:prstGeom prst="roundRect">
            <a:avLst>
              <a:gd name="adj" fmla="val 6668"/>
            </a:avLst>
          </a:prstGeom>
          <a:solidFill>
            <a:srgbClr val="E9ECF2"/>
          </a:solidFill>
          <a:ln/>
        </p:spPr>
      </p:sp>
      <p:sp>
        <p:nvSpPr>
          <p:cNvPr id="5" name="Text 2"/>
          <p:cNvSpPr/>
          <p:nvPr/>
        </p:nvSpPr>
        <p:spPr>
          <a:xfrm>
            <a:off x="6713458" y="2686407"/>
            <a:ext cx="4547116" cy="291703"/>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Small oversights cause massive breaches</a:t>
            </a:r>
            <a:endParaRPr lang="en-US" sz="1800" dirty="0"/>
          </a:p>
        </p:txBody>
      </p:sp>
      <p:sp>
        <p:nvSpPr>
          <p:cNvPr id="6" name="Text 3"/>
          <p:cNvSpPr/>
          <p:nvPr/>
        </p:nvSpPr>
        <p:spPr>
          <a:xfrm>
            <a:off x="6713458" y="3070265"/>
            <a:ext cx="7263527" cy="544354"/>
          </a:xfrm>
          <a:prstGeom prst="rect">
            <a:avLst/>
          </a:prstGeom>
          <a:noFill/>
          <a:ln/>
        </p:spPr>
        <p:txBody>
          <a:bodyPr wrap="square" lIns="0" tIns="0" rIns="0" bIns="0" rtlCol="0" anchor="t"/>
          <a:lstStyle/>
          <a:p>
            <a:pPr marL="0" indent="0" algn="l">
              <a:lnSpc>
                <a:spcPts val="2100"/>
              </a:lnSpc>
              <a:buNone/>
            </a:pPr>
            <a:r>
              <a:rPr lang="en-US" sz="1450" dirty="0">
                <a:solidFill>
                  <a:srgbClr val="15213F"/>
                </a:solidFill>
                <a:latin typeface="Roboto" pitchFamily="34" charset="0"/>
                <a:ea typeface="Roboto" pitchFamily="34" charset="-122"/>
                <a:cs typeface="Roboto" pitchFamily="34" charset="-120"/>
              </a:rPr>
              <a:t>Even minor configuration errors or logic mistakes can result in devastating data exposure and regulatory fines</a:t>
            </a:r>
            <a:endParaRPr lang="en-US" sz="1450" dirty="0"/>
          </a:p>
        </p:txBody>
      </p:sp>
      <p:sp>
        <p:nvSpPr>
          <p:cNvPr id="7" name="Shape 4"/>
          <p:cNvSpPr/>
          <p:nvPr/>
        </p:nvSpPr>
        <p:spPr>
          <a:xfrm>
            <a:off x="6139815" y="3921919"/>
            <a:ext cx="420053" cy="420053"/>
          </a:xfrm>
          <a:prstGeom prst="roundRect">
            <a:avLst>
              <a:gd name="adj" fmla="val 6668"/>
            </a:avLst>
          </a:prstGeom>
          <a:solidFill>
            <a:srgbClr val="E9ECF2"/>
          </a:solidFill>
          <a:ln/>
        </p:spPr>
      </p:sp>
      <p:sp>
        <p:nvSpPr>
          <p:cNvPr id="8" name="Text 5"/>
          <p:cNvSpPr/>
          <p:nvPr/>
        </p:nvSpPr>
        <p:spPr>
          <a:xfrm>
            <a:off x="6713458" y="3986093"/>
            <a:ext cx="3623072" cy="291703"/>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Continuous vigilance is essential</a:t>
            </a:r>
            <a:endParaRPr lang="en-US" sz="1800" dirty="0"/>
          </a:p>
        </p:txBody>
      </p:sp>
      <p:sp>
        <p:nvSpPr>
          <p:cNvPr id="9" name="Text 6"/>
          <p:cNvSpPr/>
          <p:nvPr/>
        </p:nvSpPr>
        <p:spPr>
          <a:xfrm>
            <a:off x="6713458" y="4369951"/>
            <a:ext cx="7263527" cy="544354"/>
          </a:xfrm>
          <a:prstGeom prst="rect">
            <a:avLst/>
          </a:prstGeom>
          <a:noFill/>
          <a:ln/>
        </p:spPr>
        <p:txBody>
          <a:bodyPr wrap="square" lIns="0" tIns="0" rIns="0" bIns="0" rtlCol="0" anchor="t"/>
          <a:lstStyle/>
          <a:p>
            <a:pPr marL="0" indent="0" algn="l">
              <a:lnSpc>
                <a:spcPts val="2100"/>
              </a:lnSpc>
              <a:buNone/>
            </a:pPr>
            <a:r>
              <a:rPr lang="en-US" sz="1450" dirty="0">
                <a:solidFill>
                  <a:srgbClr val="15213F"/>
                </a:solidFill>
                <a:latin typeface="Roboto" pitchFamily="34" charset="0"/>
                <a:ea typeface="Roboto" pitchFamily="34" charset="-122"/>
                <a:cs typeface="Roboto" pitchFamily="34" charset="-120"/>
              </a:rPr>
              <a:t>Regular security testing, code reviews, and monitoring must become part of your development culture</a:t>
            </a:r>
            <a:endParaRPr lang="en-US" sz="1450" dirty="0"/>
          </a:p>
        </p:txBody>
      </p:sp>
      <p:sp>
        <p:nvSpPr>
          <p:cNvPr id="10" name="Shape 7"/>
          <p:cNvSpPr/>
          <p:nvPr/>
        </p:nvSpPr>
        <p:spPr>
          <a:xfrm>
            <a:off x="6139815" y="5221605"/>
            <a:ext cx="420053" cy="420053"/>
          </a:xfrm>
          <a:prstGeom prst="roundRect">
            <a:avLst>
              <a:gd name="adj" fmla="val 6668"/>
            </a:avLst>
          </a:prstGeom>
          <a:solidFill>
            <a:srgbClr val="E9ECF2"/>
          </a:solidFill>
          <a:ln/>
        </p:spPr>
      </p:sp>
      <p:sp>
        <p:nvSpPr>
          <p:cNvPr id="11" name="Text 8"/>
          <p:cNvSpPr/>
          <p:nvPr/>
        </p:nvSpPr>
        <p:spPr>
          <a:xfrm>
            <a:off x="6713458" y="5285780"/>
            <a:ext cx="3427809" cy="291703"/>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Layered security protects users</a:t>
            </a:r>
            <a:endParaRPr lang="en-US" sz="1800" dirty="0"/>
          </a:p>
        </p:txBody>
      </p:sp>
      <p:sp>
        <p:nvSpPr>
          <p:cNvPr id="12" name="Text 9"/>
          <p:cNvSpPr/>
          <p:nvPr/>
        </p:nvSpPr>
        <p:spPr>
          <a:xfrm>
            <a:off x="6713458" y="5669637"/>
            <a:ext cx="7263527" cy="272177"/>
          </a:xfrm>
          <a:prstGeom prst="rect">
            <a:avLst/>
          </a:prstGeom>
          <a:noFill/>
          <a:ln/>
        </p:spPr>
        <p:txBody>
          <a:bodyPr wrap="none" lIns="0" tIns="0" rIns="0" bIns="0" rtlCol="0" anchor="t"/>
          <a:lstStyle/>
          <a:p>
            <a:pPr marL="0" indent="0" algn="l">
              <a:lnSpc>
                <a:spcPts val="2100"/>
              </a:lnSpc>
              <a:buNone/>
            </a:pPr>
            <a:r>
              <a:rPr lang="en-US" sz="1450" dirty="0">
                <a:solidFill>
                  <a:srgbClr val="15213F"/>
                </a:solidFill>
                <a:latin typeface="Roboto" pitchFamily="34" charset="0"/>
                <a:ea typeface="Roboto" pitchFamily="34" charset="-122"/>
                <a:cs typeface="Roboto" pitchFamily="34" charset="-120"/>
              </a:rPr>
              <a:t>Learn from real-world failures to build trust and implement defence-in-depth strategies</a:t>
            </a:r>
            <a:endParaRPr lang="en-US" sz="1450" dirty="0"/>
          </a:p>
        </p:txBody>
      </p:sp>
      <p:sp>
        <p:nvSpPr>
          <p:cNvPr id="13" name="Text 10"/>
          <p:cNvSpPr/>
          <p:nvPr/>
        </p:nvSpPr>
        <p:spPr>
          <a:xfrm>
            <a:off x="6419850" y="6287572"/>
            <a:ext cx="7557135" cy="544354"/>
          </a:xfrm>
          <a:prstGeom prst="rect">
            <a:avLst/>
          </a:prstGeom>
          <a:noFill/>
          <a:ln/>
        </p:spPr>
        <p:txBody>
          <a:bodyPr wrap="square" lIns="0" tIns="0" rIns="0" bIns="0" rtlCol="0" anchor="t"/>
          <a:lstStyle/>
          <a:p>
            <a:pPr marL="0" indent="0" algn="l">
              <a:lnSpc>
                <a:spcPts val="2100"/>
              </a:lnSpc>
              <a:buNone/>
            </a:pPr>
            <a:r>
              <a:rPr lang="en-US" sz="1450" dirty="0">
                <a:solidFill>
                  <a:srgbClr val="15213F"/>
                </a:solidFill>
                <a:latin typeface="Roboto" pitchFamily="34" charset="0"/>
                <a:ea typeface="Roboto" pitchFamily="34" charset="-122"/>
                <a:cs typeface="Roboto" pitchFamily="34" charset="-120"/>
              </a:rPr>
              <a:t>Security is not a one-time implementation—it's an ongoing commitment to protecting user trust and data integrity.</a:t>
            </a:r>
            <a:endParaRPr lang="en-US" sz="1450" dirty="0"/>
          </a:p>
        </p:txBody>
      </p:sp>
      <p:sp>
        <p:nvSpPr>
          <p:cNvPr id="14" name="Shape 11"/>
          <p:cNvSpPr/>
          <p:nvPr/>
        </p:nvSpPr>
        <p:spPr>
          <a:xfrm>
            <a:off x="6139815" y="6114693"/>
            <a:ext cx="22860" cy="890111"/>
          </a:xfrm>
          <a:prstGeom prst="rect">
            <a:avLst/>
          </a:prstGeom>
          <a:solidFill>
            <a:srgbClr val="3257B8"/>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Words>
  <Application>Microsoft Office PowerPoint</Application>
  <PresentationFormat>Custom</PresentationFormat>
  <Paragraphs>69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Roboto Slab</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lee k</cp:lastModifiedBy>
  <cp:revision>2</cp:revision>
  <dcterms:created xsi:type="dcterms:W3CDTF">2026-03-02T11:29:17Z</dcterms:created>
  <dcterms:modified xsi:type="dcterms:W3CDTF">2026-03-02T11:30:10Z</dcterms:modified>
</cp:coreProperties>
</file>