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Roboto" panose="02000000000000000000" pitchFamily="2" charset="0"/>
      <p:regular r:id="rId10"/>
    </p:embeddedFont>
    <p:embeddedFont>
      <p:font typeface="Roboto Slab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84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5934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Insecure Design: Why Good Code Can’t Save a Bad Foundation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2584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Moving beyond implementation to security architecture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43895"/>
            <a:ext cx="2144435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6278" y="5566291"/>
            <a:ext cx="181451" cy="181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8455" y="5511879"/>
            <a:ext cx="160008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BY DESIGN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83268"/>
            <a:ext cx="503539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Broken Foundation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2290405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4253" y="2290405"/>
            <a:ext cx="33814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Insecure Implementation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644253" y="2780824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Bugs, missing patches, input validation errors — found in code &amp; tests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396025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4253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Insecure Design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644253" y="4450675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Flawed logic, weak authentication flows, insecure assumptions — architecture-level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90" y="563010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4253" y="5630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Analogy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644253" y="6120527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locked door on a house with no front wall" — implementation can't compensate for bad design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311354"/>
            <a:ext cx="4205168" cy="5606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1894999"/>
            <a:ext cx="69357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Case Study — Security Questions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981" y="2837617"/>
            <a:ext cx="113348" cy="1133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00142" y="27171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it fails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00142" y="3298269"/>
            <a:ext cx="794396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Answers often publicly discoverable (social profiles, public records)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entropy — guessable or reused across sites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Prone to social engineering and account recovery attacks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981" y="5119687"/>
            <a:ext cx="113348" cy="1133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00142" y="4999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Architectural lesson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900142" y="5580340"/>
            <a:ext cx="794396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and recovery flows are design-level decisions — require threat modeling and alternatives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156" y="709017"/>
            <a:ext cx="5328761" cy="48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Shift Left: Design Before Code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76156" y="1438751"/>
            <a:ext cx="7791688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 spent on secure design ≈ $100 saved on post-breach fixes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156" y="2011323"/>
            <a:ext cx="193119" cy="19311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56" y="2215396"/>
            <a:ext cx="7791688" cy="228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76156" y="2357676"/>
            <a:ext cx="241494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Requirements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676156" y="2758202"/>
            <a:ext cx="7791688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security objectives, acceptable risk, compliance constraints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6156" y="3416498"/>
            <a:ext cx="193119" cy="193119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56" y="3639860"/>
            <a:ext cx="7791688" cy="228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76156" y="3801427"/>
            <a:ext cx="241494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</a:t>
            </a:r>
            <a:endParaRPr lang="en-US" sz="1900" dirty="0"/>
          </a:p>
        </p:txBody>
      </p:sp>
      <p:sp>
        <p:nvSpPr>
          <p:cNvPr id="12" name="Text 5"/>
          <p:cNvSpPr/>
          <p:nvPr/>
        </p:nvSpPr>
        <p:spPr>
          <a:xfrm>
            <a:off x="676156" y="4201954"/>
            <a:ext cx="7791688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 models, secure patterns, data flow &amp; boundary decisions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156" y="4821674"/>
            <a:ext cx="193119" cy="193119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56" y="5064323"/>
            <a:ext cx="7791688" cy="2286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76156" y="5245179"/>
            <a:ext cx="241494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Implementation</a:t>
            </a:r>
            <a:endParaRPr lang="en-US" sz="1900" dirty="0"/>
          </a:p>
        </p:txBody>
      </p:sp>
      <p:sp>
        <p:nvSpPr>
          <p:cNvPr id="16" name="Text 7"/>
          <p:cNvSpPr/>
          <p:nvPr/>
        </p:nvSpPr>
        <p:spPr>
          <a:xfrm>
            <a:off x="676156" y="5645706"/>
            <a:ext cx="7791688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Secure-by-default libraries, code reviews, static analysis</a:t>
            </a:r>
            <a:endParaRPr lang="en-US" sz="15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6156" y="6226850"/>
            <a:ext cx="193119" cy="193119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56" y="6488787"/>
            <a:ext cx="7791688" cy="2286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76156" y="6688931"/>
            <a:ext cx="241494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 &amp; Ops</a:t>
            </a:r>
            <a:endParaRPr lang="en-US" sz="1900" dirty="0"/>
          </a:p>
        </p:txBody>
      </p:sp>
      <p:sp>
        <p:nvSpPr>
          <p:cNvPr id="20" name="Text 9"/>
          <p:cNvSpPr/>
          <p:nvPr/>
        </p:nvSpPr>
        <p:spPr>
          <a:xfrm>
            <a:off x="676156" y="7089458"/>
            <a:ext cx="7791688" cy="28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Pentest, runtime monitoring, incident playbooks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4408"/>
            <a:ext cx="600194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Threat Modeling in Practice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1995011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1188" y="3153996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35127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Prioritization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3771" y="3155219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35127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Abuse Case Mapping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6964" y="3155219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35127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Threat Enumeration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17115" y="3155219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35127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Asset Identification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8921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like a hacker during the whiteboard phase — map real abuse cases, not just happy paths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34008"/>
            <a:ext cx="4888706" cy="56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Design Patterns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" y="1642467"/>
            <a:ext cx="671989" cy="6719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8074" y="1642467"/>
            <a:ext cx="2103953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MFA (Multi-Factor)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38074" y="2479238"/>
            <a:ext cx="2103953" cy="143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possession + knowledge factors; remove sole reliance on recovery Qs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872" y="1642467"/>
            <a:ext cx="671989" cy="6719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705" y="1642467"/>
            <a:ext cx="2104073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Time-based OTP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71705" y="2479238"/>
            <a:ext cx="2104073" cy="1074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Short-lived secrets reduce replay and guess windows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622" y="1642467"/>
            <a:ext cx="671989" cy="6719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05455" y="1642467"/>
            <a:ext cx="2103953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Least Privilege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405455" y="2127766"/>
            <a:ext cx="2103953" cy="143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 scope of credentials; separate duties and reduce blast radius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253" y="1642467"/>
            <a:ext cx="671989" cy="6719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39086" y="1642467"/>
            <a:ext cx="2104073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Gateway &amp; Centralized Auth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739086" y="2830711"/>
            <a:ext cx="2104073" cy="1791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auth, logging, and rate limits at the edge — single source of truth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41" y="5068133"/>
            <a:ext cx="671989" cy="6719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38074" y="5068133"/>
            <a:ext cx="2103953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Defaults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738074" y="5553432"/>
            <a:ext cx="2103953" cy="143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Opt-in protection, feature flags for risky behavior, safe fail states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787241" y="7237333"/>
            <a:ext cx="13055918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Mantra: "Don’t reinvent the wheel; use the gold standard."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5070" y="629603"/>
            <a:ext cx="6422708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 Action Checklist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75070" y="1528763"/>
            <a:ext cx="2372916" cy="2374702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500336" y="1754029"/>
            <a:ext cx="1922383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Design-first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0336" y="2240399"/>
            <a:ext cx="1922383" cy="143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security a requirements item, not an afterthought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871823" y="1528763"/>
            <a:ext cx="2373035" cy="2374702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9097089" y="1754029"/>
            <a:ext cx="1922502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Threat model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097089" y="2592467"/>
            <a:ext cx="1922502" cy="1078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abuse cases early; review at each milestone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468695" y="1528763"/>
            <a:ext cx="2372916" cy="2374702"/>
          </a:xfrm>
          <a:prstGeom prst="roundRect">
            <a:avLst>
              <a:gd name="adj" fmla="val 1425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11693962" y="1754029"/>
            <a:ext cx="1922383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Use patterns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693962" y="2592467"/>
            <a:ext cx="1922383" cy="1078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MFA, TOTP, least privilege, centralized auth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75070" y="4127302"/>
            <a:ext cx="7566541" cy="1296353"/>
          </a:xfrm>
          <a:prstGeom prst="roundRect">
            <a:avLst>
              <a:gd name="adj" fmla="val 2608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6500336" y="4352568"/>
            <a:ext cx="2817019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Measure &amp; iterate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0336" y="4838938"/>
            <a:ext cx="711600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Metrics, monitoring, regular red-teaming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275070" y="5675471"/>
            <a:ext cx="7566660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is an architectural choice, not a last-minute add-on.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75070" y="6286738"/>
            <a:ext cx="7566660" cy="1313140"/>
          </a:xfrm>
          <a:prstGeom prst="roundRect">
            <a:avLst>
              <a:gd name="adj" fmla="val 2574"/>
            </a:avLst>
          </a:prstGeom>
          <a:solidFill>
            <a:srgbClr val="C3CFE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336" y="6622613"/>
            <a:ext cx="281702" cy="22526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07304" y="6566892"/>
            <a:ext cx="6609159" cy="71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Takeaway: Shift investment left — small upfront design effort prevents large downstream losses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Microsoft Office PowerPoint</Application>
  <PresentationFormat>Custom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 Slab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2026-02-27T12:10:05Z</dcterms:created>
  <dcterms:modified xsi:type="dcterms:W3CDTF">2026-02-27T12:11:16Z</dcterms:modified>
</cp:coreProperties>
</file>