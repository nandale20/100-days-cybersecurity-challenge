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Roboto" panose="02000000000000000000" pitchFamily="2" charset="0"/>
      <p:regular r:id="rId8"/>
      <p:bold r:id="rId9"/>
      <p:italic r:id="rId10"/>
    </p:embeddedFont>
    <p:embeddedFont>
      <p:font typeface="Roboto Slab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2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Mishandling of Exceptional Conditions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Mishandling of Exceptional Conditions occurs when an application encounters an unexpected error and responds in a way that reveals sensitive debugging information, leaks system state, or crashes into an insecure "fail-open" state.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7459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Common Causes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0218" y="1782485"/>
            <a:ext cx="4200168" cy="2801303"/>
          </a:xfrm>
          <a:prstGeom prst="roundRect">
            <a:avLst>
              <a:gd name="adj" fmla="val 522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38" y="1782485"/>
            <a:ext cx="121920" cy="28013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7880" y="2038707"/>
            <a:ext cx="3187184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Verbose Error Messages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7880" y="2526149"/>
            <a:ext cx="3596283" cy="144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Displaying full stack traces, database connection strings, or internal file paths directly to the end-user.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5057" y="1782485"/>
            <a:ext cx="4200168" cy="2801303"/>
          </a:xfrm>
          <a:prstGeom prst="roundRect">
            <a:avLst>
              <a:gd name="adj" fmla="val 522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577" y="1782485"/>
            <a:ext cx="121920" cy="28013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2719" y="2038707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Fail-Open Design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2719" y="2526149"/>
            <a:ext cx="3596283" cy="144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an error occurs during an authentication or authorization check, the system defaults to "allow" instead of "deny."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39895" y="1782485"/>
            <a:ext cx="4200287" cy="2801303"/>
          </a:xfrm>
          <a:prstGeom prst="roundRect">
            <a:avLst>
              <a:gd name="adj" fmla="val 5223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415" y="1782485"/>
            <a:ext cx="121920" cy="28013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7558" y="2038707"/>
            <a:ext cx="2850713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Uncaught Exceptions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7558" y="2526149"/>
            <a:ext cx="3596402" cy="180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Allowing the underlying framework (like Java, .NET, or Node.js) to handle the error, which often reveals the specific version of the software being used.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0218" y="4808458"/>
            <a:ext cx="4200168" cy="2793683"/>
          </a:xfrm>
          <a:prstGeom prst="roundRect">
            <a:avLst>
              <a:gd name="adj" fmla="val 523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38" y="4808458"/>
            <a:ext cx="121920" cy="279368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7880" y="5064681"/>
            <a:ext cx="3596283" cy="705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Inconsistent Error Responses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37880" y="5904786"/>
            <a:ext cx="3596283" cy="144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Providing different errors for "User not found" vs. "Incorrect password," which allows for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username enumeration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215057" y="4808458"/>
            <a:ext cx="4200168" cy="2793683"/>
          </a:xfrm>
          <a:prstGeom prst="roundRect">
            <a:avLst>
              <a:gd name="adj" fmla="val 523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77" y="4808458"/>
            <a:ext cx="121920" cy="279368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2719" y="5064681"/>
            <a:ext cx="3596283" cy="705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Resource Exhaustion via Errors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5562719" y="5904786"/>
            <a:ext cx="3596283" cy="1441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Failing to release memory or file handles when an exception is thrown, leading to a Denial of Service (DoS).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3901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Impact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80190" y="1582103"/>
            <a:ext cx="7556421" cy="1355527"/>
          </a:xfrm>
          <a:prstGeom prst="roundRect">
            <a:avLst>
              <a:gd name="adj" fmla="val 2134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472952" y="177486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Information Leakage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472952" y="2174319"/>
            <a:ext cx="717089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gain a "blueprint" of your environment, including database names, API keys, or logic vulnerabilities.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80190" y="3101459"/>
            <a:ext cx="7556421" cy="1355527"/>
          </a:xfrm>
          <a:prstGeom prst="roundRect">
            <a:avLst>
              <a:gd name="adj" fmla="val 2134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6472952" y="329422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Privilege Escalation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72952" y="3693676"/>
            <a:ext cx="717089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a security check fails and the system "fails-open," an unauthorised user may gain administrative access.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80190" y="4620816"/>
            <a:ext cx="7556421" cy="1355527"/>
          </a:xfrm>
          <a:prstGeom prst="roundRect">
            <a:avLst>
              <a:gd name="adj" fmla="val 2134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6472952" y="481357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Downtime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472952" y="5213033"/>
            <a:ext cx="717089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Poorly handled exceptions can cause the entire application to crash or enter an infinite loop.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80190" y="6140172"/>
            <a:ext cx="7556421" cy="1355527"/>
          </a:xfrm>
          <a:prstGeom prst="roundRect">
            <a:avLst>
              <a:gd name="adj" fmla="val 2134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6472952" y="633293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Targeted Attacks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472952" y="6732389"/>
            <a:ext cx="717089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version info in errors allows attackers to search for specific, unpatched CVEs for your exact software stack.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8659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Preventive Measures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704023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4" name="Text 2"/>
          <p:cNvSpPr/>
          <p:nvPr/>
        </p:nvSpPr>
        <p:spPr>
          <a:xfrm>
            <a:off x="870287" y="1742242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36727" y="1774150"/>
            <a:ext cx="284487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Generic Error Messages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36727" y="2203133"/>
            <a:ext cx="12399883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show the user a friendly, non-technical message (e.g., </a:t>
            </a:r>
            <a:r>
              <a:rPr lang="en-US" sz="16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"An unexpected error occurred. Please try again later."</a:t>
            </a: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while logging the technical details privately.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3790" y="3191113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8" name="Text 6"/>
          <p:cNvSpPr/>
          <p:nvPr/>
        </p:nvSpPr>
        <p:spPr>
          <a:xfrm>
            <a:off x="870287" y="3229332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36727" y="326124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Fail-Closed Logic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36727" y="3690223"/>
            <a:ext cx="1239988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that if a security-critical function fails, the default action is to revoke access and log the event.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3790" y="4367927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2" name="Text 10"/>
          <p:cNvSpPr/>
          <p:nvPr/>
        </p:nvSpPr>
        <p:spPr>
          <a:xfrm>
            <a:off x="870287" y="4406146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36727" y="4438055"/>
            <a:ext cx="318373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Global Exception Handlers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36727" y="4867037"/>
            <a:ext cx="1239988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centralised "catch-all" block to prevent unhandled exceptions from reaching the browser.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90" y="5544741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870287" y="5582960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36727" y="5614868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Sanitise Logs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36727" y="6043851"/>
            <a:ext cx="1239988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that even though logs are technical, they do not store sensitive data like passwords or PII (Personally Identifiable Information).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3790" y="672155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sp>
        <p:nvSpPr>
          <p:cNvPr id="20" name="Text 18"/>
          <p:cNvSpPr/>
          <p:nvPr/>
        </p:nvSpPr>
        <p:spPr>
          <a:xfrm>
            <a:off x="870287" y="6759773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36727" y="679168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 Error Pages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36727" y="7220664"/>
            <a:ext cx="1239988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 your web server (NGINX, IIS, Apache) to show custom 404/500 pages rather than the default server banners.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882" y="705683"/>
            <a:ext cx="7610237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Case Study: The "Stack Trace" Map</a:t>
            </a:r>
            <a:endParaRPr lang="en-US" sz="2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998" y="1729859"/>
            <a:ext cx="3840004" cy="227897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5907" y="2286879"/>
            <a:ext cx="326885" cy="32688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324672" y="3480213"/>
            <a:ext cx="954505" cy="18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Result</a:t>
            </a:r>
            <a:endParaRPr lang="en-US" sz="11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19201" y="2287492"/>
            <a:ext cx="326885" cy="32688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121735" y="3480213"/>
            <a:ext cx="954505" cy="18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Failure</a:t>
            </a:r>
            <a:endParaRPr lang="en-US" sz="11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16264" y="2287492"/>
            <a:ext cx="326885" cy="32688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899186" y="3480213"/>
            <a:ext cx="954504" cy="18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Incident</a:t>
            </a:r>
            <a:endParaRPr lang="en-US" sz="1150" dirty="0"/>
          </a:p>
        </p:txBody>
      </p:sp>
      <p:sp>
        <p:nvSpPr>
          <p:cNvPr id="11" name="Shape 4"/>
          <p:cNvSpPr/>
          <p:nvPr/>
        </p:nvSpPr>
        <p:spPr>
          <a:xfrm>
            <a:off x="664369" y="4109442"/>
            <a:ext cx="3836432" cy="3414474"/>
          </a:xfrm>
          <a:prstGeom prst="roundRect">
            <a:avLst>
              <a:gd name="adj" fmla="val 626"/>
            </a:avLst>
          </a:prstGeom>
          <a:solidFill>
            <a:srgbClr val="AFCBF8"/>
          </a:solidFill>
          <a:ln/>
        </p:spPr>
      </p:sp>
      <p:sp>
        <p:nvSpPr>
          <p:cNvPr id="12" name="Text 5"/>
          <p:cNvSpPr/>
          <p:nvPr/>
        </p:nvSpPr>
        <p:spPr>
          <a:xfrm>
            <a:off x="806768" y="4198858"/>
            <a:ext cx="1780223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Incident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806768" y="4510683"/>
            <a:ext cx="3551634" cy="695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mid-sized fintech platform failed to handle a database timeout exception during a routine maintenance window.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753332" y="4189928"/>
            <a:ext cx="363140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Failure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753332" y="4502110"/>
            <a:ext cx="3631406" cy="115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the database went offline, the login page displayed a full Java stack trace to any visitor. This trace included the database internal IP address, the schema name, and the specific SQL library version being used.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753332" y="5741075"/>
            <a:ext cx="363140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753332" y="6053257"/>
            <a:ext cx="3631406" cy="139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attacker used the library version info to find a known remote code execution (RCE) vulnerability. By the time the database was back online, the attacker had already established a reverse shell using the information gathered from the error message.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Microsoft Office PowerPoint</Application>
  <PresentationFormat>Custom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lee k</cp:lastModifiedBy>
  <cp:revision>2</cp:revision>
  <dcterms:created xsi:type="dcterms:W3CDTF">2026-03-07T11:18:49Z</dcterms:created>
  <dcterms:modified xsi:type="dcterms:W3CDTF">2026-03-07T11:19:54Z</dcterms:modified>
</cp:coreProperties>
</file>