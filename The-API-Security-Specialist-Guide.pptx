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Brygada 1918" panose="020B0604020202020204" charset="0"/>
      <p:regular r:id="rId11"/>
    </p:embeddedFont>
    <p:embeddedFont>
      <p:font typeface="Brygada 1918 Semi Bold" panose="020B0604020202020204" charset="0"/>
      <p:regular r:id="rId12"/>
    </p:embeddedFont>
    <p:embeddedFont>
      <p:font typeface="Consolas" panose="020B0609020204030204" pitchFamily="49" charset="0"/>
      <p:regular r:id="rId13"/>
      <p:bold r:id="rId14"/>
      <p:italic r:id="rId15"/>
      <p:boldItalic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53371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01965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The "API Security Specialist" Guide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77737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From a Cybersecurity perspective, Postman isn't just a development tool—it's a powerful environment for API Security Testing, vulnerability scanning, and managing sensitive credentials.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5121235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If you want your post to appeal to security researchers, penetration testers, or DevSecOps engineers, you should focus on how to use Postman to find and fix flaws.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95507"/>
            <a:ext cx="1270932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Postman for Pentesting: How to Audit Your APIs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35791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Most people use Postman to build; we use it to break. Here is the cybersecurity workflow for testing API endpoints: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297596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 Light" pitchFamily="34" charset="0"/>
                <a:ea typeface="Brygada 1918 Light" pitchFamily="34" charset="-122"/>
                <a:cs typeface="Brygada 1918 Light" pitchFamily="34" charset="-120"/>
              </a:rPr>
              <a:t>01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3790" y="3331012"/>
            <a:ext cx="4196358" cy="30480"/>
          </a:xfrm>
          <a:prstGeom prst="rect">
            <a:avLst/>
          </a:prstGeom>
          <a:solidFill>
            <a:srgbClr val="626C3B"/>
          </a:solidFill>
          <a:ln/>
        </p:spPr>
      </p:sp>
      <p:sp>
        <p:nvSpPr>
          <p:cNvPr id="6" name="Text 4"/>
          <p:cNvSpPr/>
          <p:nvPr/>
        </p:nvSpPr>
        <p:spPr>
          <a:xfrm>
            <a:off x="793790" y="350531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Intercept &amp; Analyse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93790" y="3995738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Capture and inspect all traffic using the Postman Proxy or Interceptor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5216962" y="297596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 Light" pitchFamily="34" charset="0"/>
                <a:ea typeface="Brygada 1918 Light" pitchFamily="34" charset="-122"/>
                <a:cs typeface="Brygada 1918 Light" pitchFamily="34" charset="-120"/>
              </a:rPr>
              <a:t>02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216962" y="3331012"/>
            <a:ext cx="4196358" cy="30480"/>
          </a:xfrm>
          <a:prstGeom prst="rect">
            <a:avLst/>
          </a:prstGeom>
          <a:solidFill>
            <a:srgbClr val="83792E"/>
          </a:solidFill>
          <a:ln/>
        </p:spPr>
      </p:sp>
      <p:sp>
        <p:nvSpPr>
          <p:cNvPr id="10" name="Text 8"/>
          <p:cNvSpPr/>
          <p:nvPr/>
        </p:nvSpPr>
        <p:spPr>
          <a:xfrm>
            <a:off x="5216962" y="3505319"/>
            <a:ext cx="291250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Authorisation Testing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216962" y="3995738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Test for Broken Object Level Authorisation (BOLA) vulnerabilities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9640133" y="297596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 Light" pitchFamily="34" charset="0"/>
                <a:ea typeface="Brygada 1918 Light" pitchFamily="34" charset="-122"/>
                <a:cs typeface="Brygada 1918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9640133" y="3331012"/>
            <a:ext cx="4196358" cy="30480"/>
          </a:xfrm>
          <a:prstGeom prst="rect">
            <a:avLst/>
          </a:prstGeom>
          <a:solidFill>
            <a:srgbClr val="E8AF3B"/>
          </a:solidFill>
          <a:ln/>
        </p:spPr>
      </p:sp>
      <p:sp>
        <p:nvSpPr>
          <p:cNvPr id="14" name="Text 12"/>
          <p:cNvSpPr/>
          <p:nvPr/>
        </p:nvSpPr>
        <p:spPr>
          <a:xfrm>
            <a:off x="9640133" y="350531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Fuzzing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640133" y="3995738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Send thousands of payload variations using the Collection Runner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793790" y="511837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 Light" pitchFamily="34" charset="0"/>
                <a:ea typeface="Brygada 1918 Light" pitchFamily="34" charset="-122"/>
                <a:cs typeface="Brygada 1918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793790" y="5473422"/>
            <a:ext cx="6407944" cy="30480"/>
          </a:xfrm>
          <a:prstGeom prst="rect">
            <a:avLst/>
          </a:prstGeom>
          <a:solidFill>
            <a:srgbClr val="CC914D"/>
          </a:solidFill>
          <a:ln/>
        </p:spPr>
      </p:sp>
      <p:sp>
        <p:nvSpPr>
          <p:cNvPr id="18" name="Text 16"/>
          <p:cNvSpPr/>
          <p:nvPr/>
        </p:nvSpPr>
        <p:spPr>
          <a:xfrm>
            <a:off x="793790" y="56477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Secret Management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93790" y="6138148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Enforce the No-Leak Rule with Environment Variables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7428548" y="511837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 Light" pitchFamily="34" charset="0"/>
                <a:ea typeface="Brygada 1918 Light" pitchFamily="34" charset="-122"/>
                <a:cs typeface="Brygada 1918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1" name="Shape 19"/>
          <p:cNvSpPr/>
          <p:nvPr/>
        </p:nvSpPr>
        <p:spPr>
          <a:xfrm>
            <a:off x="7428548" y="5473422"/>
            <a:ext cx="6407944" cy="30480"/>
          </a:xfrm>
          <a:prstGeom prst="rect">
            <a:avLst/>
          </a:prstGeom>
          <a:solidFill>
            <a:srgbClr val="626C3B"/>
          </a:solidFill>
          <a:ln/>
        </p:spPr>
      </p:sp>
      <p:sp>
        <p:nvSpPr>
          <p:cNvPr id="22" name="Text 20"/>
          <p:cNvSpPr/>
          <p:nvPr/>
        </p:nvSpPr>
        <p:spPr>
          <a:xfrm>
            <a:off x="7428548" y="56477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Automated Tests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428548" y="6138148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Write security unit tests in the Tests tab to flag red flags automatically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49028"/>
            <a:ext cx="725340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Intercept &amp; Analyse (Proxy)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630436" y="2797969"/>
            <a:ext cx="6571417" cy="2100739"/>
          </a:xfrm>
          <a:prstGeom prst="roundRect">
            <a:avLst>
              <a:gd name="adj" fmla="val 25914"/>
            </a:avLst>
          </a:prstGeom>
          <a:solidFill>
            <a:srgbClr val="626C3B"/>
          </a:solidFill>
          <a:ln/>
        </p:spPr>
      </p:sp>
      <p:sp>
        <p:nvSpPr>
          <p:cNvPr id="4" name="Text 2"/>
          <p:cNvSpPr/>
          <p:nvPr/>
        </p:nvSpPr>
        <p:spPr>
          <a:xfrm>
            <a:off x="857250" y="30247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The Method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7250" y="3605927"/>
            <a:ext cx="611778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Use the </a:t>
            </a:r>
            <a:r>
              <a:rPr lang="en-US" sz="1750" b="1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Postman Proxy</a:t>
            </a:r>
            <a:r>
              <a:rPr lang="en-US" sz="175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or </a:t>
            </a:r>
            <a:r>
              <a:rPr lang="en-US" sz="1750" b="1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Interceptor</a:t>
            </a:r>
            <a:r>
              <a:rPr lang="en-US" sz="175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to capture traffic from your browser or mobile app.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99521" y="30247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The Goal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599521" y="3605927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See exactly what data is being sent to the server — </a:t>
            </a:r>
            <a:r>
              <a:rPr lang="en-US" sz="17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hidden fields, cookies, tokens</a:t>
            </a: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— and look for manipulation opportunities.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93790" y="5153858"/>
            <a:ext cx="13042821" cy="1326713"/>
          </a:xfrm>
          <a:prstGeom prst="roundRect">
            <a:avLst>
              <a:gd name="adj" fmla="val 25645"/>
            </a:avLst>
          </a:prstGeom>
          <a:solidFill>
            <a:srgbClr val="DFE4CE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5490329"/>
            <a:ext cx="283488" cy="22681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30906" y="5437346"/>
            <a:ext cx="120788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The Interceptor extension allows you to capture requests directly from your browser session, giving you a real-time view of every API call being made — including those not visible in the UI.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70434"/>
            <a:ext cx="12066627" cy="716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Broken Object Level Authorisation (BOLA) </a:t>
            </a:r>
            <a:r>
              <a:rPr lang="en-US" sz="4450" dirty="0">
                <a:solidFill>
                  <a:srgbClr val="000000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🔑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740462"/>
            <a:ext cx="3037523" cy="426244"/>
          </a:xfrm>
          <a:prstGeom prst="roundRect">
            <a:avLst>
              <a:gd name="adj" fmla="val 63859"/>
            </a:avLst>
          </a:prstGeom>
          <a:solidFill>
            <a:srgbClr val="EAEDDE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9878" y="2862858"/>
            <a:ext cx="181451" cy="18145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02055" y="2808446"/>
            <a:ext cx="2493169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THE #1 API VULNERABILITY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93790" y="3421856"/>
            <a:ext cx="6407944" cy="1746052"/>
          </a:xfrm>
          <a:prstGeom prst="roundRect">
            <a:avLst>
              <a:gd name="adj" fmla="val 8379"/>
            </a:avLst>
          </a:prstGeom>
          <a:solidFill>
            <a:srgbClr val="F6EBD4"/>
          </a:solidFill>
          <a:ln w="30480">
            <a:solidFill>
              <a:srgbClr val="626C3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63310" y="3421856"/>
            <a:ext cx="121920" cy="1746052"/>
          </a:xfrm>
          <a:prstGeom prst="roundRect">
            <a:avLst>
              <a:gd name="adj" fmla="val 279070"/>
            </a:avLst>
          </a:prstGeom>
          <a:solidFill>
            <a:srgbClr val="626C3B"/>
          </a:solidFill>
          <a:ln/>
        </p:spPr>
      </p:sp>
      <p:sp>
        <p:nvSpPr>
          <p:cNvPr id="8" name="Text 5"/>
          <p:cNvSpPr/>
          <p:nvPr/>
        </p:nvSpPr>
        <p:spPr>
          <a:xfrm>
            <a:off x="1142524" y="367915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The Test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142524" y="4169569"/>
            <a:ext cx="5801916" cy="741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Use Postman to change a resource ID in the URL (e.g., </a:t>
            </a:r>
            <a:r>
              <a:rPr lang="en-US" sz="1750" dirty="0">
                <a:solidFill>
                  <a:srgbClr val="403011"/>
                </a:solidFill>
                <a:highlight>
                  <a:srgbClr val="E9DEC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/api/user/101</a:t>
            </a: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to </a:t>
            </a:r>
            <a:r>
              <a:rPr lang="en-US" sz="1750" dirty="0">
                <a:solidFill>
                  <a:srgbClr val="403011"/>
                </a:solidFill>
                <a:highlight>
                  <a:srgbClr val="E9DEC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/api/user/102</a:t>
            </a: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).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428548" y="3421856"/>
            <a:ext cx="6408063" cy="1746052"/>
          </a:xfrm>
          <a:prstGeom prst="roundRect">
            <a:avLst>
              <a:gd name="adj" fmla="val 8379"/>
            </a:avLst>
          </a:prstGeom>
          <a:solidFill>
            <a:srgbClr val="F6EBD4"/>
          </a:solidFill>
          <a:ln w="30480">
            <a:solidFill>
              <a:srgbClr val="83792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98067" y="3421856"/>
            <a:ext cx="121920" cy="1746052"/>
          </a:xfrm>
          <a:prstGeom prst="roundRect">
            <a:avLst>
              <a:gd name="adj" fmla="val 279070"/>
            </a:avLst>
          </a:prstGeom>
          <a:solidFill>
            <a:srgbClr val="83792E"/>
          </a:solidFill>
          <a:ln/>
        </p:spPr>
      </p:sp>
      <p:sp>
        <p:nvSpPr>
          <p:cNvPr id="12" name="Text 9"/>
          <p:cNvSpPr/>
          <p:nvPr/>
        </p:nvSpPr>
        <p:spPr>
          <a:xfrm>
            <a:off x="7777282" y="367915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The Fix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7777282" y="4169569"/>
            <a:ext cx="5802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Ensure your scripts check if the </a:t>
            </a:r>
            <a:r>
              <a:rPr lang="en-US" sz="17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current user actually owns the data</a:t>
            </a: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they are requesting.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1133951" y="5678210"/>
            <a:ext cx="127026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BOLA vulnerabilities allow attackers to access other users' data simply by modifying an ID in the request. It is consistently ranked as the most critical API security risk by OWASP.</a:t>
            </a:r>
            <a:endParaRPr lang="en-US" sz="1750" dirty="0"/>
          </a:p>
        </p:txBody>
      </p:sp>
      <p:sp>
        <p:nvSpPr>
          <p:cNvPr id="15" name="Shape 12"/>
          <p:cNvSpPr/>
          <p:nvPr/>
        </p:nvSpPr>
        <p:spPr>
          <a:xfrm>
            <a:off x="793790" y="5423059"/>
            <a:ext cx="30480" cy="1236107"/>
          </a:xfrm>
          <a:prstGeom prst="rect">
            <a:avLst/>
          </a:prstGeom>
          <a:solidFill>
            <a:srgbClr val="626C3B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78047" y="624007"/>
            <a:ext cx="5032058" cy="600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Fuzzing with Iteration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6278047" y="1469231"/>
            <a:ext cx="7560707" cy="284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Don't just send one request. Use the </a:t>
            </a:r>
            <a:r>
              <a:rPr lang="en-US" sz="15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Collection Runner</a:t>
            </a:r>
            <a:r>
              <a:rPr lang="en-US" sz="15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with a CSV or JSON data file.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6278047" y="1936671"/>
            <a:ext cx="7560707" cy="1366123"/>
          </a:xfrm>
          <a:prstGeom prst="roundRect">
            <a:avLst>
              <a:gd name="adj" fmla="val 21111"/>
            </a:avLst>
          </a:prstGeom>
          <a:solidFill>
            <a:srgbClr val="626C3B"/>
          </a:solidFill>
          <a:ln w="7620">
            <a:solidFill>
              <a:srgbClr val="7B855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77833" y="2136458"/>
            <a:ext cx="2403277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The Goal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6477833" y="2534603"/>
            <a:ext cx="7161133" cy="568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Send </a:t>
            </a:r>
            <a:r>
              <a:rPr lang="en-US" sz="1500" b="1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thousands of variations</a:t>
            </a:r>
            <a:r>
              <a:rPr lang="en-US" sz="150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of a payload to see how the API handles "bad" data.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278047" y="3465671"/>
            <a:ext cx="7560707" cy="1366123"/>
          </a:xfrm>
          <a:prstGeom prst="roundRect">
            <a:avLst>
              <a:gd name="adj" fmla="val 21111"/>
            </a:avLst>
          </a:prstGeom>
          <a:solidFill>
            <a:srgbClr val="83792E"/>
          </a:solidFill>
          <a:ln w="7620">
            <a:solidFill>
              <a:srgbClr val="9C924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77833" y="3665458"/>
            <a:ext cx="2433995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SQL Injection Strings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6477833" y="4063603"/>
            <a:ext cx="7161133" cy="568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Test whether the API is vulnerable to classic SQL injection attacks via malformed inputs.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278047" y="4994672"/>
            <a:ext cx="7560707" cy="1081921"/>
          </a:xfrm>
          <a:prstGeom prst="roundRect">
            <a:avLst>
              <a:gd name="adj" fmla="val 26657"/>
            </a:avLst>
          </a:prstGeom>
          <a:solidFill>
            <a:srgbClr val="E8AF3B"/>
          </a:solidFill>
          <a:ln w="7620">
            <a:solidFill>
              <a:srgbClr val="CE952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77833" y="5194459"/>
            <a:ext cx="2403277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XSS Payloads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6477833" y="5592604"/>
            <a:ext cx="7161133" cy="284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Inject cross-site scripting strings to check if the API sanitises output correctly.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78047" y="6239470"/>
            <a:ext cx="7560707" cy="1366123"/>
          </a:xfrm>
          <a:prstGeom prst="roundRect">
            <a:avLst>
              <a:gd name="adj" fmla="val 21111"/>
            </a:avLst>
          </a:prstGeom>
          <a:solidFill>
            <a:srgbClr val="CC914D"/>
          </a:solidFill>
          <a:ln w="7620">
            <a:solidFill>
              <a:srgbClr val="B277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77833" y="6439257"/>
            <a:ext cx="2403277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Massive Integers</a:t>
            </a:r>
            <a:endParaRPr lang="en-US" sz="1850" dirty="0"/>
          </a:p>
        </p:txBody>
      </p:sp>
      <p:sp>
        <p:nvSpPr>
          <p:cNvPr id="16" name="Text 13"/>
          <p:cNvSpPr/>
          <p:nvPr/>
        </p:nvSpPr>
        <p:spPr>
          <a:xfrm>
            <a:off x="6477833" y="6837402"/>
            <a:ext cx="7161133" cy="568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Send extreme numeric values to expose integer overflow or improper input validation bugs.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36759"/>
            <a:ext cx="1101125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Secret Management (The "No-Leak" Rule)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0125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The Rule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259365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Never hardcode API keys or JWTs</a:t>
            </a: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in the request body.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18337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The Move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76451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Use </a:t>
            </a:r>
            <a:r>
              <a:rPr lang="en-US" sz="17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Environment Variables</a:t>
            </a: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marked as </a:t>
            </a:r>
            <a:r>
              <a:rPr lang="en-US" sz="17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"Secret."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3542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Pro Tip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93790" y="4935379"/>
            <a:ext cx="6244709" cy="741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Ensure your </a:t>
            </a:r>
            <a:r>
              <a:rPr lang="en-US" sz="1750" dirty="0">
                <a:solidFill>
                  <a:srgbClr val="403011"/>
                </a:solidFill>
                <a:highlight>
                  <a:srgbClr val="E9DEC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.postman_environment</a:t>
            </a: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files are </a:t>
            </a:r>
            <a:r>
              <a:rPr lang="en-US" sz="17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never committed to Git.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436168" y="1785699"/>
            <a:ext cx="6571417" cy="4094798"/>
          </a:xfrm>
          <a:prstGeom prst="roundRect">
            <a:avLst>
              <a:gd name="adj" fmla="val 13295"/>
            </a:avLst>
          </a:prstGeom>
          <a:solidFill>
            <a:srgbClr val="626C3B"/>
          </a:solidFill>
          <a:ln/>
        </p:spPr>
      </p:sp>
      <p:sp>
        <p:nvSpPr>
          <p:cNvPr id="10" name="Text 8"/>
          <p:cNvSpPr/>
          <p:nvPr/>
        </p:nvSpPr>
        <p:spPr>
          <a:xfrm>
            <a:off x="7662982" y="20125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Why It Matters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662982" y="2593658"/>
            <a:ext cx="611778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Leaked API keys in public repositories are one of the most common causes of data breaches. A single accidental commit can expose your entire infrastructure.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6135648"/>
            <a:ext cx="13042821" cy="1357193"/>
          </a:xfrm>
          <a:prstGeom prst="roundRect">
            <a:avLst>
              <a:gd name="adj" fmla="val 25070"/>
            </a:avLst>
          </a:prstGeom>
          <a:solidFill>
            <a:srgbClr val="DFE4CE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6472118"/>
            <a:ext cx="283488" cy="22681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530906" y="6419136"/>
            <a:ext cx="12078891" cy="756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Add </a:t>
            </a:r>
            <a:r>
              <a:rPr lang="en-US" sz="1750" dirty="0">
                <a:solidFill>
                  <a:srgbClr val="000000"/>
                </a:solidFill>
                <a:highlight>
                  <a:srgbClr val="E9DEC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*.postman_environment.json</a:t>
            </a:r>
            <a:r>
              <a:rPr lang="en-US" sz="175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to your </a:t>
            </a:r>
            <a:r>
              <a:rPr lang="en-US" sz="1750" dirty="0">
                <a:solidFill>
                  <a:srgbClr val="000000"/>
                </a:solidFill>
                <a:highlight>
                  <a:srgbClr val="E9DEC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.gitignore</a:t>
            </a:r>
            <a:r>
              <a:rPr lang="en-US" sz="175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file immediately. Treat these files with the same sensitivity as your </a:t>
            </a:r>
            <a:r>
              <a:rPr lang="en-US" sz="1750" dirty="0">
                <a:solidFill>
                  <a:srgbClr val="000000"/>
                </a:solidFill>
                <a:highlight>
                  <a:srgbClr val="E9DEC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.env</a:t>
            </a:r>
            <a:r>
              <a:rPr lang="en-US" sz="175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secrets.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86527"/>
            <a:ext cx="7311152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Automated Security Unit Tests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93790" y="1791891"/>
            <a:ext cx="13042821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In the </a:t>
            </a:r>
            <a:r>
              <a:rPr lang="en-US" sz="16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Tests tab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, write scripts to automatically flag security red flags: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93790" y="2308860"/>
            <a:ext cx="13042821" cy="3408759"/>
          </a:xfrm>
          <a:prstGeom prst="roundRect">
            <a:avLst>
              <a:gd name="adj" fmla="val 8983"/>
            </a:avLst>
          </a:prstGeom>
          <a:solidFill>
            <a:srgbClr val="E9DEC7"/>
          </a:solidFill>
          <a:ln/>
        </p:spPr>
      </p:sp>
      <p:sp>
        <p:nvSpPr>
          <p:cNvPr id="5" name="Shape 3"/>
          <p:cNvSpPr/>
          <p:nvPr/>
        </p:nvSpPr>
        <p:spPr>
          <a:xfrm>
            <a:off x="783669" y="2308860"/>
            <a:ext cx="13063061" cy="3408759"/>
          </a:xfrm>
          <a:prstGeom prst="roundRect">
            <a:avLst>
              <a:gd name="adj" fmla="val 898"/>
            </a:avLst>
          </a:prstGeom>
          <a:solidFill>
            <a:srgbClr val="E9DEC7"/>
          </a:solidFill>
          <a:ln/>
        </p:spPr>
      </p:sp>
      <p:sp>
        <p:nvSpPr>
          <p:cNvPr id="6" name="Text 4"/>
          <p:cNvSpPr/>
          <p:nvPr/>
        </p:nvSpPr>
        <p:spPr>
          <a:xfrm>
            <a:off x="987742" y="2461855"/>
            <a:ext cx="12654915" cy="3102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403011"/>
                </a:solidFill>
                <a:highlight>
                  <a:srgbClr val="E9DEC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// Check if sensitive headers are missing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403011"/>
                </a:solidFill>
                <a:highlight>
                  <a:srgbClr val="E9DEC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pm.test("Ensure Secure Headers are present", function () {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403011"/>
                </a:solidFill>
                <a:highlight>
                  <a:srgbClr val="E9DEC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pm.response.to.have.header("X-Content-Type-Options");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403011"/>
                </a:solidFill>
                <a:highlight>
                  <a:srgbClr val="E9DEC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pm.response.to.have.header("Content-Security-Policy");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403011"/>
                </a:solidFill>
                <a:highlight>
                  <a:srgbClr val="E9DEC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403011"/>
                </a:solidFill>
                <a:highlight>
                  <a:srgbClr val="E9DEC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// Ensure no 500 errors (which leak stack traces)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403011"/>
                </a:solidFill>
                <a:highlight>
                  <a:srgbClr val="E9DEC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pm.test("No Server Leaks", function () {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403011"/>
                </a:solidFill>
                <a:highlight>
                  <a:srgbClr val="E9DEC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pm.expect(pm.response.code).to.be.below(500);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403011"/>
                </a:solidFill>
                <a:highlight>
                  <a:srgbClr val="E9DEC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93790" y="5924312"/>
            <a:ext cx="6429494" cy="1518642"/>
          </a:xfrm>
          <a:prstGeom prst="roundRect">
            <a:avLst>
              <a:gd name="adj" fmla="val 20164"/>
            </a:avLst>
          </a:prstGeom>
          <a:solidFill>
            <a:srgbClr val="F6EBD4"/>
          </a:solidFill>
          <a:ln w="22860">
            <a:solidFill>
              <a:srgbClr val="626C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0723" y="6151245"/>
            <a:ext cx="269521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Secure Headers Check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20723" y="6580227"/>
            <a:ext cx="5975628" cy="635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Validates that </a:t>
            </a:r>
            <a:r>
              <a:rPr lang="en-US" sz="1600" dirty="0">
                <a:solidFill>
                  <a:srgbClr val="403011"/>
                </a:solidFill>
                <a:highlight>
                  <a:srgbClr val="E9DEC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X-Content-Type-Options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and </a:t>
            </a:r>
            <a:r>
              <a:rPr lang="en-US" sz="1600" dirty="0">
                <a:solidFill>
                  <a:srgbClr val="403011"/>
                </a:solidFill>
                <a:highlight>
                  <a:srgbClr val="E9DEC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Content-Security-Policy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headers are present in every response.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406997" y="5924312"/>
            <a:ext cx="6429613" cy="1518642"/>
          </a:xfrm>
          <a:prstGeom prst="roundRect">
            <a:avLst>
              <a:gd name="adj" fmla="val 20164"/>
            </a:avLst>
          </a:prstGeom>
          <a:solidFill>
            <a:srgbClr val="F6EBD4"/>
          </a:solidFill>
          <a:ln w="22860">
            <a:solidFill>
              <a:srgbClr val="8379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33930" y="6151245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No Server Leaks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633930" y="6580227"/>
            <a:ext cx="5975747" cy="628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Ensures no </a:t>
            </a:r>
            <a:r>
              <a:rPr lang="en-US" sz="1600" dirty="0">
                <a:solidFill>
                  <a:srgbClr val="403011"/>
                </a:solidFill>
                <a:highlight>
                  <a:srgbClr val="E9DEC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500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errors are returned, which would leak internal stack traces to potential attackers.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51930"/>
            <a:ext cx="1048678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Common Security Mistakes in Postman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314337"/>
            <a:ext cx="4196358" cy="3181469"/>
          </a:xfrm>
          <a:prstGeom prst="roundRect">
            <a:avLst>
              <a:gd name="adj" fmla="val 4599"/>
            </a:avLst>
          </a:prstGeom>
          <a:solidFill>
            <a:srgbClr val="F6EBD4"/>
          </a:solidFill>
          <a:ln w="30480">
            <a:solidFill>
              <a:srgbClr val="626C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310" y="2314337"/>
            <a:ext cx="121920" cy="3181469"/>
          </a:xfrm>
          <a:prstGeom prst="roundRect">
            <a:avLst>
              <a:gd name="adj" fmla="val 279070"/>
            </a:avLst>
          </a:prstGeom>
          <a:solidFill>
            <a:srgbClr val="626C3B"/>
          </a:solidFill>
          <a:ln/>
        </p:spPr>
      </p:sp>
      <p:sp>
        <p:nvSpPr>
          <p:cNvPr id="5" name="Text 3"/>
          <p:cNvSpPr/>
          <p:nvPr/>
        </p:nvSpPr>
        <p:spPr>
          <a:xfrm>
            <a:off x="1142524" y="2571631"/>
            <a:ext cx="2937272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🌐</a:t>
            </a: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 Public Workspaces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2524" y="3069669"/>
            <a:ext cx="35903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Accidentally making a workspace </a:t>
            </a:r>
            <a:r>
              <a:rPr lang="en-US" sz="17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"Public"</a:t>
            </a: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and leaking your company's internal API documentation and keys.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6962" y="2314337"/>
            <a:ext cx="4196358" cy="3181469"/>
          </a:xfrm>
          <a:prstGeom prst="roundRect">
            <a:avLst>
              <a:gd name="adj" fmla="val 4599"/>
            </a:avLst>
          </a:prstGeom>
          <a:solidFill>
            <a:srgbClr val="F6EBD4"/>
          </a:solidFill>
          <a:ln w="30480">
            <a:solidFill>
              <a:srgbClr val="8379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86482" y="2314337"/>
            <a:ext cx="121920" cy="3181469"/>
          </a:xfrm>
          <a:prstGeom prst="roundRect">
            <a:avLst>
              <a:gd name="adj" fmla="val 279070"/>
            </a:avLst>
          </a:prstGeom>
          <a:solidFill>
            <a:srgbClr val="83792E"/>
          </a:solidFill>
          <a:ln/>
        </p:spPr>
      </p:sp>
      <p:sp>
        <p:nvSpPr>
          <p:cNvPr id="9" name="Text 7"/>
          <p:cNvSpPr/>
          <p:nvPr/>
        </p:nvSpPr>
        <p:spPr>
          <a:xfrm>
            <a:off x="5565696" y="2571631"/>
            <a:ext cx="3590330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🔓</a:t>
            </a: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 Turning off SSL Verification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565696" y="3423999"/>
            <a:ext cx="359033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It's tempting when testing local dev environments, but it leaves you open to </a:t>
            </a:r>
            <a:r>
              <a:rPr lang="en-US" sz="17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Man-in-the-Middle (MitM) attacks.</a:t>
            </a: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Keep it </a:t>
            </a:r>
            <a:r>
              <a:rPr lang="en-US" sz="17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ON</a:t>
            </a: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in production.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640133" y="2314337"/>
            <a:ext cx="4196358" cy="3181469"/>
          </a:xfrm>
          <a:prstGeom prst="roundRect">
            <a:avLst>
              <a:gd name="adj" fmla="val 4599"/>
            </a:avLst>
          </a:prstGeom>
          <a:solidFill>
            <a:srgbClr val="F6EBD4"/>
          </a:solidFill>
          <a:ln w="30480">
            <a:solidFill>
              <a:srgbClr val="E8AF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9653" y="2314337"/>
            <a:ext cx="121920" cy="3181469"/>
          </a:xfrm>
          <a:prstGeom prst="roundRect">
            <a:avLst>
              <a:gd name="adj" fmla="val 279070"/>
            </a:avLst>
          </a:prstGeom>
          <a:solidFill>
            <a:srgbClr val="E8AF3B"/>
          </a:solidFill>
          <a:ln/>
        </p:spPr>
      </p:sp>
      <p:sp>
        <p:nvSpPr>
          <p:cNvPr id="13" name="Text 11"/>
          <p:cNvSpPr/>
          <p:nvPr/>
        </p:nvSpPr>
        <p:spPr>
          <a:xfrm>
            <a:off x="9988868" y="2571631"/>
            <a:ext cx="3590330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📋</a:t>
            </a: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 Saving Sensitive Data in History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988868" y="3423999"/>
            <a:ext cx="35903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Postman saves request history by default. </a:t>
            </a:r>
            <a:r>
              <a:rPr lang="en-US" sz="17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Clear it regularly</a:t>
            </a: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if you're handling </a:t>
            </a:r>
            <a:r>
              <a:rPr lang="en-US" sz="17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PII (Personally Identifiable Information).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93790" y="5750957"/>
            <a:ext cx="13042821" cy="1326713"/>
          </a:xfrm>
          <a:prstGeom prst="roundRect">
            <a:avLst>
              <a:gd name="adj" fmla="val 25645"/>
            </a:avLst>
          </a:prstGeom>
          <a:solidFill>
            <a:srgbClr val="DFE4CE"/>
          </a:solidFill>
          <a:ln/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6087428"/>
            <a:ext cx="283488" cy="226814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530906" y="6034445"/>
            <a:ext cx="120788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Security is not a one-time checklist — it is a continuous practice. Regularly audit your Postman workspaces, rotate credentials, and enforce team-wide policies on secret management and workspace visibility.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802</Words>
  <Application>Microsoft Office PowerPoint</Application>
  <PresentationFormat>Custom</PresentationFormat>
  <Paragraphs>85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Brygada 1918 Semi Bold</vt:lpstr>
      <vt:lpstr>Consolas</vt:lpstr>
      <vt:lpstr>Brygada 1918</vt:lpstr>
      <vt:lpstr>Brygada 1918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lee k</cp:lastModifiedBy>
  <cp:revision>2</cp:revision>
  <dcterms:created xsi:type="dcterms:W3CDTF">2026-03-09T11:10:23Z</dcterms:created>
  <dcterms:modified xsi:type="dcterms:W3CDTF">2026-03-09T11:11:45Z</dcterms:modified>
</cp:coreProperties>
</file>